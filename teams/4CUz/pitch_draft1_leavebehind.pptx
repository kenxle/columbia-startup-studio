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135eb1f56514cef" /><Relationship Type="http://schemas.openxmlformats.org/officeDocument/2006/relationships/extended-properties" Target="/docProps/app.xml" Id="R891cc57a20ca4d63" /><Relationship Type="http://schemas.openxmlformats.org/officeDocument/2006/relationships/officeDocument" Target="/ppt/presentation.xml" Id="R3cc97d72dc9344c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36ae9302aff49c5"/>
  </p:sldMasterIdLst>
  <p:notesMasterIdLst>
    <p:notesMasterId xmlns:r="http://schemas.openxmlformats.org/officeDocument/2006/relationships" r:id="R3d9765d9564841ef"/>
  </p:notesMasterIdLst>
  <p:sldIdLst>
    <p:sldId xmlns:r="http://schemas.openxmlformats.org/officeDocument/2006/relationships" id="256" r:id="Rdd7a257a64a4472f"/>
    <p:sldId xmlns:r="http://schemas.openxmlformats.org/officeDocument/2006/relationships" id="257" r:id="R6164b5e9a2834c89"/>
    <p:sldId xmlns:r="http://schemas.openxmlformats.org/officeDocument/2006/relationships" id="258" r:id="R746672f0b0dc42e3"/>
    <p:sldId xmlns:r="http://schemas.openxmlformats.org/officeDocument/2006/relationships" id="259" r:id="R4651e1bd34d54138"/>
    <p:sldId xmlns:r="http://schemas.openxmlformats.org/officeDocument/2006/relationships" id="260" r:id="Rb6142c2173864665"/>
    <p:sldId xmlns:r="http://schemas.openxmlformats.org/officeDocument/2006/relationships" id="261" r:id="R7ab392dd719848a4"/>
    <p:sldId xmlns:r="http://schemas.openxmlformats.org/officeDocument/2006/relationships" id="262" r:id="R116f2681f5024f4f"/>
    <p:sldId xmlns:r="http://schemas.openxmlformats.org/officeDocument/2006/relationships" id="263" r:id="Raa16a51752e94132"/>
    <p:sldId xmlns:r="http://schemas.openxmlformats.org/officeDocument/2006/relationships" id="264" r:id="R6f80be57d0524a54"/>
    <p:sldId xmlns:r="http://schemas.openxmlformats.org/officeDocument/2006/relationships" id="265" r:id="Rc88849ef6c9a4cbe"/>
    <p:sldId xmlns:r="http://schemas.openxmlformats.org/officeDocument/2006/relationships" id="266" r:id="Rc2b02b76d859452b"/>
    <p:sldId xmlns:r="http://schemas.openxmlformats.org/officeDocument/2006/relationships" id="267" r:id="Rc6c642061b534276"/>
    <p:sldId xmlns:r="http://schemas.openxmlformats.org/officeDocument/2006/relationships" id="268" r:id="R5dd21f7d7a264366"/>
    <p:sldId xmlns:r="http://schemas.openxmlformats.org/officeDocument/2006/relationships" id="269" r:id="R4b27daf56e0f44b6"/>
    <p:sldId xmlns:r="http://schemas.openxmlformats.org/officeDocument/2006/relationships" id="270" r:id="R45fdefc2a9da4e21"/>
    <p:sldId xmlns:r="http://schemas.openxmlformats.org/officeDocument/2006/relationships" id="271" r:id="R0d88365bb6cd4dcb"/>
    <p:sldId xmlns:r="http://schemas.openxmlformats.org/officeDocument/2006/relationships" id="272" r:id="Rdb7bb019f8554b46"/>
    <p:sldId xmlns:r="http://schemas.openxmlformats.org/officeDocument/2006/relationships" id="273" r:id="Rb2cf02c43682497a"/>
    <p:sldId xmlns:r="http://schemas.openxmlformats.org/officeDocument/2006/relationships" id="274" r:id="Rc7f34170fbb14cd6"/>
    <p:sldId xmlns:r="http://schemas.openxmlformats.org/officeDocument/2006/relationships" id="275" r:id="R25bf819067bc45d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6ae9302aff49c5" /><Relationship Type="http://schemas.openxmlformats.org/officeDocument/2006/relationships/theme" Target="/ppt/theme/theme1.xml" Id="Rc964f81c8c854905" /><Relationship Type="http://schemas.openxmlformats.org/officeDocument/2006/relationships/notesMaster" Target="/ppt/notesMasters/notesMaster1.xml" Id="R3d9765d9564841ef" /><Relationship Type="http://schemas.openxmlformats.org/officeDocument/2006/relationships/presProps" Target="/ppt/presProps.xml" Id="R9eb5247a8b8e48c3" /><Relationship Type="http://schemas.openxmlformats.org/officeDocument/2006/relationships/viewProps" Target="/ppt/viewProps.xml" Id="R5abb584c36c042f6" /><Relationship Type="http://schemas.openxmlformats.org/officeDocument/2006/relationships/tableStyles" Target="/ppt/tableStyles.xml" Id="R24442e7e3b4640a7" /><Relationship Type="http://schemas.openxmlformats.org/officeDocument/2006/relationships/slide" Target="/ppt/slides/slide1.xml" Id="Rdd7a257a64a4472f" /><Relationship Type="http://schemas.openxmlformats.org/officeDocument/2006/relationships/slide" Target="/ppt/slides/slide2.xml" Id="R6164b5e9a2834c89" /><Relationship Type="http://schemas.openxmlformats.org/officeDocument/2006/relationships/slide" Target="/ppt/slides/slide3.xml" Id="R746672f0b0dc42e3" /><Relationship Type="http://schemas.openxmlformats.org/officeDocument/2006/relationships/slide" Target="/ppt/slides/slide4.xml" Id="R4651e1bd34d54138" /><Relationship Type="http://schemas.openxmlformats.org/officeDocument/2006/relationships/slide" Target="/ppt/slides/slide5.xml" Id="Rb6142c2173864665" /><Relationship Type="http://schemas.openxmlformats.org/officeDocument/2006/relationships/slide" Target="/ppt/slides/slide6.xml" Id="R7ab392dd719848a4" /><Relationship Type="http://schemas.openxmlformats.org/officeDocument/2006/relationships/slide" Target="/ppt/slides/slide7.xml" Id="R116f2681f5024f4f" /><Relationship Type="http://schemas.openxmlformats.org/officeDocument/2006/relationships/slide" Target="/ppt/slides/slide8.xml" Id="Raa16a51752e94132" /><Relationship Type="http://schemas.openxmlformats.org/officeDocument/2006/relationships/slide" Target="/ppt/slides/slide9.xml" Id="R6f80be57d0524a54" /><Relationship Type="http://schemas.openxmlformats.org/officeDocument/2006/relationships/slide" Target="/ppt/slides/slide10.xml" Id="Rc88849ef6c9a4cbe" /><Relationship Type="http://schemas.openxmlformats.org/officeDocument/2006/relationships/slide" Target="/ppt/slides/slide11.xml" Id="Rc2b02b76d859452b" /><Relationship Type="http://schemas.openxmlformats.org/officeDocument/2006/relationships/slide" Target="/ppt/slides/slide12.xml" Id="Rc6c642061b534276" /><Relationship Type="http://schemas.openxmlformats.org/officeDocument/2006/relationships/slide" Target="/ppt/slides/slide13.xml" Id="R5dd21f7d7a264366" /><Relationship Type="http://schemas.openxmlformats.org/officeDocument/2006/relationships/slide" Target="/ppt/slides/slide14.xml" Id="R4b27daf56e0f44b6" /><Relationship Type="http://schemas.openxmlformats.org/officeDocument/2006/relationships/slide" Target="/ppt/slides/slide15.xml" Id="R45fdefc2a9da4e21" /><Relationship Type="http://schemas.openxmlformats.org/officeDocument/2006/relationships/slide" Target="/ppt/slides/slide16.xml" Id="R0d88365bb6cd4dcb" /><Relationship Type="http://schemas.openxmlformats.org/officeDocument/2006/relationships/slide" Target="/ppt/slides/slide17.xml" Id="Rdb7bb019f8554b46" /><Relationship Type="http://schemas.openxmlformats.org/officeDocument/2006/relationships/slide" Target="/ppt/slides/slide18.xml" Id="Rb2cf02c43682497a" /><Relationship Type="http://schemas.openxmlformats.org/officeDocument/2006/relationships/slide" Target="/ppt/slides/slide19.xml" Id="Rc7f34170fbb14cd6" /><Relationship Type="http://schemas.openxmlformats.org/officeDocument/2006/relationships/slide" Target="/ppt/slides/slide20.xml" Id="R25bf819067bc45d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9a62f5c71276450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TripableMinimal">
  <a:themeElements>
    <a:clrScheme name="TripableMinimal">
      <a:accent1>
        <a:srgbClr val="111111"/>
      </a:accent1>
      <a:accent2>
        <a:srgbClr val="6B7280"/>
      </a:accent2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TripableMinimal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d69360766784c05" /><Relationship Type="http://schemas.openxmlformats.org/officeDocument/2006/relationships/notesMaster" Target="/ppt/notesMasters/notesMaster1.xml" Id="R95a910a89e6d424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f1a4b1ef69848f9" /><Relationship Type="http://schemas.openxmlformats.org/officeDocument/2006/relationships/notesMaster" Target="/ppt/notesMasters/notesMaster1.xml" Id="R0d2e59d16e31483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e128cf86cd6402f" /><Relationship Type="http://schemas.openxmlformats.org/officeDocument/2006/relationships/notesMaster" Target="/ppt/notesMasters/notesMaster1.xml" Id="Rdc41fe7e423d40d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201096962a54a2c" /><Relationship Type="http://schemas.openxmlformats.org/officeDocument/2006/relationships/notesMaster" Target="/ppt/notesMasters/notesMaster1.xml" Id="Rdd0107a67660423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c9eada6b9224c92" /><Relationship Type="http://schemas.openxmlformats.org/officeDocument/2006/relationships/notesMaster" Target="/ppt/notesMasters/notesMaster1.xml" Id="R9266056328294e2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da7b964255c4b14" /><Relationship Type="http://schemas.openxmlformats.org/officeDocument/2006/relationships/notesMaster" Target="/ppt/notesMasters/notesMaster1.xml" Id="Ra00acd91c0e4410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dc9fdf61eea4113" /><Relationship Type="http://schemas.openxmlformats.org/officeDocument/2006/relationships/notesMaster" Target="/ppt/notesMasters/notesMaster1.xml" Id="R7288881d8bcb47a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5d316bf46874b7c" /><Relationship Type="http://schemas.openxmlformats.org/officeDocument/2006/relationships/notesMaster" Target="/ppt/notesMasters/notesMaster1.xml" Id="R908a71f9d5e44b3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c6646ff58ce436a" /><Relationship Type="http://schemas.openxmlformats.org/officeDocument/2006/relationships/notesMaster" Target="/ppt/notesMasters/notesMaster1.xml" Id="Rab4af2e37603476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9c20cbfcf994dd9" /><Relationship Type="http://schemas.openxmlformats.org/officeDocument/2006/relationships/notesMaster" Target="/ppt/notesMasters/notesMaster1.xml" Id="R6de5a8a4e36f426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76e073516284c3e" /><Relationship Type="http://schemas.openxmlformats.org/officeDocument/2006/relationships/notesMaster" Target="/ppt/notesMasters/notesMaster1.xml" Id="R56c32f9d136e4c3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9755c0ec1ca416d" /><Relationship Type="http://schemas.openxmlformats.org/officeDocument/2006/relationships/notesMaster" Target="/ppt/notesMasters/notesMaster1.xml" Id="Rf54ebd12dfec49e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1b9ab1f436d45f5" /><Relationship Type="http://schemas.openxmlformats.org/officeDocument/2006/relationships/notesMaster" Target="/ppt/notesMasters/notesMaster1.xml" Id="R0f6fbf05726744c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3b42f9b2aab47e7" /><Relationship Type="http://schemas.openxmlformats.org/officeDocument/2006/relationships/notesMaster" Target="/ppt/notesMasters/notesMaster1.xml" Id="Rf256f8bf177d414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5696f25d6b84a3f" /><Relationship Type="http://schemas.openxmlformats.org/officeDocument/2006/relationships/notesMaster" Target="/ppt/notesMasters/notesMaster1.xml" Id="R2aaacd4ea2bd47c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3faa59e909041e1" /><Relationship Type="http://schemas.openxmlformats.org/officeDocument/2006/relationships/notesMaster" Target="/ppt/notesMasters/notesMaster1.xml" Id="R986d9f15cb414cb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08e36ec9e7f4b7b" /><Relationship Type="http://schemas.openxmlformats.org/officeDocument/2006/relationships/notesMaster" Target="/ppt/notesMasters/notesMaster1.xml" Id="R684b776b2df34c3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5576fa99c5a40a7" /><Relationship Type="http://schemas.openxmlformats.org/officeDocument/2006/relationships/notesMaster" Target="/ppt/notesMasters/notesMaster1.xml" Id="Re74472d813614fd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a24db1a000d4980" /><Relationship Type="http://schemas.openxmlformats.org/officeDocument/2006/relationships/notesMaster" Target="/ppt/notesMasters/notesMaster1.xml" Id="R826460cf6c8d444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62cba8c78c04f23" /><Relationship Type="http://schemas.openxmlformats.org/officeDocument/2006/relationships/notesMaster" Target="/ppt/notesMasters/notesMaster1.xml" Id="R1a3be67fe05144f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4c4fdf5d54468e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 1">
            <a:extLst xmlns:a="http://schemas.openxmlformats.org/drawingml/2006/main">
              <a:ext uri="{FF2B5EF4-FFF2-40B4-BE49-F238E27FC236}">
                <a16:creationId xmlns:a16="http://schemas.microsoft.com/office/drawing/2014/main" id="{A6C70FDB-82F0-4DC1-BBBA-66E8AC6F4FDB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2" name="Subtitle 2">
            <a:extLst xmlns:a="http://schemas.openxmlformats.org/drawingml/2006/main">
              <a:ext uri="{FF2B5EF4-FFF2-40B4-BE49-F238E27FC236}">
                <a16:creationId xmlns:a16="http://schemas.microsoft.com/office/drawing/2014/main" id="{8906A96A-C8B6-4FF4-A554-7B616016A333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9A26274-3253-4B25-844F-BC7971BBEACB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E4A5D22-2FA2-4E39-8CC3-41822E18560F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9CF2DAB-F761-4912-9E69-4BC2A710568D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d44382a68e274bad" /><Relationship Type="http://schemas.openxmlformats.org/officeDocument/2006/relationships/slideLayout" Target="/ppt/slideLayouts/slideLayout2.xml" Id="Refdbf29aa4ab4d5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90160AA-5F76-4F19-85B9-FC6BCA627015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fdbf29aa4ab4d5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62e2ee871904361" /><Relationship Type="http://schemas.openxmlformats.org/officeDocument/2006/relationships/notesSlide" Target="/ppt/notesSlides/notesSlide1.xml" Id="R6b40dbbd2c44490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33213e2d02e44e1" /><Relationship Type="http://schemas.openxmlformats.org/officeDocument/2006/relationships/notesSlide" Target="/ppt/notesSlides/notesSlide2.xml" Id="R0bb49ea1007f4fb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d4798318abd4ccf" /><Relationship Type="http://schemas.openxmlformats.org/officeDocument/2006/relationships/notesSlide" Target="/ppt/notesSlides/notesSlide3.xml" Id="Rc09f1f859ddf4ff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ae0cf89e1e54368" /><Relationship Type="http://schemas.openxmlformats.org/officeDocument/2006/relationships/notesSlide" Target="/ppt/notesSlides/notesSlide4.xml" Id="Rbc23ee39125b4e9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f8d45317c364ffc" /><Relationship Type="http://schemas.openxmlformats.org/officeDocument/2006/relationships/notesSlide" Target="/ppt/notesSlides/notesSlide5.xml" Id="R2d3511258ae6463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1f511b5a8524f3c" /><Relationship Type="http://schemas.openxmlformats.org/officeDocument/2006/relationships/notesSlide" Target="/ppt/notesSlides/notesSlide6.xml" Id="Raffa4eaff4534ea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803c36cce1e480c" /><Relationship Type="http://schemas.openxmlformats.org/officeDocument/2006/relationships/notesSlide" Target="/ppt/notesSlides/notesSlide7.xml" Id="R1c66300c57184e9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034fa7897654883" /><Relationship Type="http://schemas.openxmlformats.org/officeDocument/2006/relationships/notesSlide" Target="/ppt/notesSlides/notesSlide8.xml" Id="R847ffc4daeaf41d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ef080560ca74630" /><Relationship Type="http://schemas.openxmlformats.org/officeDocument/2006/relationships/notesSlide" Target="/ppt/notesSlides/notesSlide9.xml" Id="R76a93d2c147b4ba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2b332d4d4654dcc" /><Relationship Type="http://schemas.openxmlformats.org/officeDocument/2006/relationships/notesSlide" Target="/ppt/notesSlides/notesSlide10.xml" Id="Rbc7959511c3e475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079f1f3270641fe" /><Relationship Type="http://schemas.openxmlformats.org/officeDocument/2006/relationships/notesSlide" Target="/ppt/notesSlides/notesSlide11.xml" Id="Ra9e96f6253ca452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42b24d518114713" /><Relationship Type="http://schemas.openxmlformats.org/officeDocument/2006/relationships/notesSlide" Target="/ppt/notesSlides/notesSlide12.xml" Id="R2c451559950442f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8e5c1c21fa541b7" /><Relationship Type="http://schemas.openxmlformats.org/officeDocument/2006/relationships/notesSlide" Target="/ppt/notesSlides/notesSlide13.xml" Id="R9e7ca13de6a8467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6744e64c60d4a5c" /><Relationship Type="http://schemas.openxmlformats.org/officeDocument/2006/relationships/notesSlide" Target="/ppt/notesSlides/notesSlide14.xml" Id="R1f8839461bec4d9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12105500ef84983" /><Relationship Type="http://schemas.openxmlformats.org/officeDocument/2006/relationships/notesSlide" Target="/ppt/notesSlides/notesSlide15.xml" Id="R7a5d1fd1d39a40b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2f614771a5d405b" /><Relationship Type="http://schemas.openxmlformats.org/officeDocument/2006/relationships/notesSlide" Target="/ppt/notesSlides/notesSlide16.xml" Id="Rf8face9a9dee416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0be5f5f0258400e" /><Relationship Type="http://schemas.openxmlformats.org/officeDocument/2006/relationships/notesSlide" Target="/ppt/notesSlides/notesSlide17.xml" Id="R8530660ca7f34cb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b8436268387464d" /><Relationship Type="http://schemas.openxmlformats.org/officeDocument/2006/relationships/notesSlide" Target="/ppt/notesSlides/notesSlide18.xml" Id="R25ec7abbb43c493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dd9f74be0dc4f5f" /><Relationship Type="http://schemas.openxmlformats.org/officeDocument/2006/relationships/notesSlide" Target="/ppt/notesSlides/notesSlide19.xml" Id="Rf333a35c9cdc451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555a6d60a8643fc" /><Relationship Type="http://schemas.openxmlformats.org/officeDocument/2006/relationships/notesSlide" Target="/ppt/notesSlides/notesSlide20.xml" Id="Rdfebbd1bf949452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9CF2DAB-F761-4912-9E69-4BC2A710568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809E7A-FF01-4B57-BA3F-7316AE15D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10820400" cy="190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08FDE5-0304-4006-8941-CF11DBE36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10820400" cy="9525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2492F7-0BD2-4806-9FD1-0B5B33AA6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2286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6B7280"/>
                </a:solidFill>
              </a:defRPr>
            </a:pPr>
            <a:r>
              <a:rPr sz="1050">
                <a:solidFill>
                  <a:srgbClr val="6B7280"/>
                </a:solidFill>
              </a:rPr>
              <a:t>1 / 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7E9689-8090-4BCC-A3D0-E4F23C7BE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2286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6B7280"/>
                </a:solidFill>
              </a:defRPr>
            </a:pPr>
            <a:r>
              <a:rPr sz="1050">
                <a:solidFill>
                  <a:srgbClr val="6B7280"/>
                </a:solidFill>
              </a:rPr>
              <a:t>tripable.pro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3ED1AB-9FAD-4346-BA85-71346C2E1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8572500" cy="13335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111111"/>
                </a:solidFill>
              </a:defRPr>
            </a:pPr>
            <a:r>
              <a:rPr sz="5400" b="1">
                <a:solidFill>
                  <a:srgbClr val="111111"/>
                </a:solidFill>
              </a:rPr>
              <a:t>TRIPABLE — Leave-behind deck (Draft 1)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06DFFF-5F29-49F7-9CE6-298453213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4953000" cy="571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5E03A4-C6A6-4734-977F-FD983D586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8572500" cy="11430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>
                <a:solidFill>
                  <a:srgbClr val="111111"/>
                </a:solidFill>
              </a:defRPr>
            </a:pPr>
            <a:r>
              <a:rPr sz="2100">
                <a:solidFill>
                  <a:srgbClr val="111111"/>
                </a:solidFill>
              </a:rPr>
              <a:t>Group trip planning, without the group-chat chaos.</a:t>
            </a:r>
          </a:p>
          <a:p xmlns:a="http://schemas.openxmlformats.org/drawingml/2006/main">
            <a:pPr algn="l">
              <a:defRPr sz="2100">
                <a:solidFill>
                  <a:srgbClr val="111111"/>
                </a:solidFill>
              </a:defRPr>
            </a:pPr>
            <a:r>
              <a:rPr sz="2100">
                <a:solidFill>
                  <a:srgbClr val="111111"/>
                </a:solidFill>
              </a:rPr>
              <a:t>https://www.tripable.pro/</a:t>
            </a:r>
          </a:p>
          <a:p xmlns:a="http://schemas.openxmlformats.org/drawingml/2006/main">
            <a:pPr algn="l">
              <a:defRPr sz="2100">
                <a:solidFill>
                  <a:srgbClr val="111111"/>
                </a:solidFill>
              </a:defRPr>
            </a:pPr>
            <a:r>
              <a:rPr sz="2100">
                <a:solidFill>
                  <a:srgbClr val="111111"/>
                </a:solidFill>
              </a:rPr>
              <a:t>Team: 4CUz (Elizabeth Lu, Luke Liang, Rebecca Zhao, Thai On)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032693-18A5-439D-AD40-296C23AF8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10820400" cy="3810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6B7280"/>
                </a:solidFill>
              </a:defRPr>
            </a:pPr>
            <a:r>
              <a:rPr sz="1350">
                <a:solidFill>
                  <a:srgbClr val="6B7280"/>
                </a:solidFill>
              </a:rPr>
              <a:t>4CUz  •  tripable.pro</a:t>
            </a:r>
          </a:p>
        </p:txBody>
      </p:sp>
    </p:spTree>
    <p:extLst>
      <p:ext uri="{BB962C8B-B14F-4D97-AF65-F5344CB8AC3E}">
        <p14:creationId xmlns:p14="http://schemas.microsoft.com/office/powerpoint/2010/main" val="201270364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9CF2DAB-F761-4912-9E69-4BC2A710568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9B1B3D-4C49-45EB-81C4-089970B5A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10820400" cy="190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AA5F15-D3B6-4B06-A543-DF64E1CC0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10820400" cy="9525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435340-8378-459B-98B6-E3E538A16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2286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6B7280"/>
                </a:solidFill>
              </a:defRPr>
            </a:pPr>
            <a:r>
              <a:rPr sz="1050">
                <a:solidFill>
                  <a:srgbClr val="6B7280"/>
                </a:solidFill>
              </a:rPr>
              <a:t>2 / 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73F652-6E61-48EA-951B-E5971C7B6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2286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6B7280"/>
                </a:solidFill>
              </a:defRPr>
            </a:pPr>
            <a:r>
              <a:rPr sz="1050">
                <a:solidFill>
                  <a:srgbClr val="6B7280"/>
                </a:solidFill>
              </a:rPr>
              <a:t>tripable.pro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85420B-8B18-483A-B1F6-88296AD24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191500" cy="8572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111"/>
                </a:solidFill>
              </a:defRPr>
            </a:pPr>
            <a:r>
              <a:rPr sz="3300" b="1">
                <a:solidFill>
                  <a:srgbClr val="111111"/>
                </a:solidFill>
              </a:rPr>
              <a:t>OPENING / CHANGE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43A8D5-5039-4319-A44E-19C230BC0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42862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11111"/>
                </a:solidFill>
              </a:defRPr>
            </a:pPr>
            <a:r>
              <a:rPr sz="1800">
                <a:solidFill>
                  <a:srgbClr val="111111"/>
                </a:solidFill>
              </a:rPr>
              <a:t>From chaotic group chats (buried links, silent voters, unclear decisions)</a:t>
            </a:r>
          </a:p>
          <a:p xmlns:a="http://schemas.openxmlformats.org/drawingml/2006/main">
            <a:pPr algn="l">
              <a:defRPr sz="1800">
                <a:solidFill>
                  <a:srgbClr val="111111"/>
                </a:solidFill>
              </a:defRPr>
            </a:pPr>
            <a:r>
              <a:rPr sz="1800">
                <a:solidFill>
                  <a:srgbClr val="111111"/>
                </a:solidFill>
              </a:rPr>
              <a:t>To a shared trip workspace where every friend can contribute asynchronously:</a:t>
            </a:r>
          </a:p>
          <a:p xmlns:a="http://schemas.openxmlformats.org/drawingml/2006/main">
            <a:pPr algn="l">
              <a:defRPr sz="1800">
                <a:solidFill>
                  <a:srgbClr val="111111"/>
                </a:solidFill>
              </a:defRPr>
            </a:pPr>
            <a:r>
              <a:rPr sz="1800">
                <a:solidFill>
                  <a:srgbClr val="111111"/>
                </a:solidFill>
              </a:rPr>
              <a:t>availability + places/activities + budgets + itinerary, with voting + comments built in</a:t>
            </a:r>
          </a:p>
        </p:txBody>
      </p:sp>
    </p:spTree>
    <p:extLst>
      <p:ext uri="{BB962C8B-B14F-4D97-AF65-F5344CB8AC3E}">
        <p14:creationId xmlns:p14="http://schemas.microsoft.com/office/powerpoint/2010/main" val="149522839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9CF2DAB-F761-4912-9E69-4BC2A710568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B0CBB2-A0AA-49D9-ADC7-8028F6020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10820400" cy="190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FCF05D-B156-4787-B22D-9F91879C5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10820400" cy="9525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B88F4D-03D4-47FD-B2A3-322104A4F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2286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6B7280"/>
                </a:solidFill>
              </a:defRPr>
            </a:pPr>
            <a:r>
              <a:rPr sz="1050">
                <a:solidFill>
                  <a:srgbClr val="6B7280"/>
                </a:solidFill>
              </a:rPr>
              <a:t>3 / 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46B433-9147-4967-82B2-E4A01847F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2286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6B7280"/>
                </a:solidFill>
              </a:defRPr>
            </a:pPr>
            <a:r>
              <a:rPr sz="1050">
                <a:solidFill>
                  <a:srgbClr val="6B7280"/>
                </a:solidFill>
              </a:rPr>
              <a:t>tripable.pro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0DD068-A59B-4713-AFE3-C28EC8EF2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191500" cy="8572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111"/>
                </a:solidFill>
              </a:defRPr>
            </a:pPr>
            <a:r>
              <a:rPr sz="3300" b="1">
                <a:solidFill>
                  <a:srgbClr val="111111"/>
                </a:solidFill>
              </a:rPr>
              <a:t>PROBLEM (1/2): Coordination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DFB474-40E8-4A8A-9569-B767F13C5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42862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11111"/>
                </a:solidFill>
              </a:defRPr>
            </a:pPr>
            <a:r>
              <a:rPr sz="1800">
                <a:solidFill>
                  <a:srgbClr val="111111"/>
                </a:solidFill>
              </a:rPr>
              <a:t>Group trip planning fails because:</a:t>
            </a:r>
          </a:p>
          <a:p xmlns:a="http://schemas.openxmlformats.org/drawingml/2006/main">
            <a:pPr algn="l">
              <a:defRPr sz="1800">
                <a:solidFill>
                  <a:srgbClr val="111111"/>
                </a:solidFill>
              </a:defRPr>
            </a:pPr>
            <a:r>
              <a:rPr sz="1800">
                <a:solidFill>
                  <a:srgbClr val="111111"/>
                </a:solidFill>
              </a:rPr>
              <a:t>Availability is hard to aggregate (people respond at different times)</a:t>
            </a:r>
          </a:p>
          <a:p xmlns:a="http://schemas.openxmlformats.org/drawingml/2006/main">
            <a:pPr algn="l">
              <a:defRPr sz="1800">
                <a:solidFill>
                  <a:srgbClr val="111111"/>
                </a:solidFill>
              </a:defRPr>
            </a:pPr>
            <a:r>
              <a:rPr sz="1800">
                <a:solidFill>
                  <a:srgbClr val="111111"/>
                </a:solidFill>
              </a:rPr>
              <a:t>Decisions require consensus (destinations, activities, lodging)</a:t>
            </a:r>
          </a:p>
          <a:p xmlns:a="http://schemas.openxmlformats.org/drawingml/2006/main">
            <a:pPr algn="l">
              <a:defRPr sz="1800">
                <a:solidFill>
                  <a:srgbClr val="111111"/>
                </a:solidFill>
              </a:defRPr>
            </a:pPr>
            <a:r>
              <a:rPr sz="1800">
                <a:solidFill>
                  <a:srgbClr val="111111"/>
                </a:solidFill>
              </a:rPr>
              <a:t>Context gets lost when planning happens in chat</a:t>
            </a:r>
          </a:p>
        </p:txBody>
      </p:sp>
    </p:spTree>
    <p:extLst>
      <p:ext uri="{BB962C8B-B14F-4D97-AF65-F5344CB8AC3E}">
        <p14:creationId xmlns:p14="http://schemas.microsoft.com/office/powerpoint/2010/main" val="38736446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9CF2DAB-F761-4912-9E69-4BC2A710568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9ADB70-F390-4B94-AE57-0DEF60909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10820400" cy="190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5ABB18-BF29-460B-A552-7C07064C8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10820400" cy="9525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7783BB-A56F-4FA1-B6FB-F3B1BA7B6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2286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6B7280"/>
                </a:solidFill>
              </a:defRPr>
            </a:pPr>
            <a:r>
              <a:rPr sz="1050">
                <a:solidFill>
                  <a:srgbClr val="6B7280"/>
                </a:solidFill>
              </a:rPr>
              <a:t>4 / 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E85B91-254F-4F95-AD34-C49A9EE7E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2286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6B7280"/>
                </a:solidFill>
              </a:defRPr>
            </a:pPr>
            <a:r>
              <a:rPr sz="1050">
                <a:solidFill>
                  <a:srgbClr val="6B7280"/>
                </a:solidFill>
              </a:rPr>
              <a:t>tripable.pro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F88A6A-3973-45B7-B113-E5871EF62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191500" cy="8572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111"/>
                </a:solidFill>
              </a:defRPr>
            </a:pPr>
            <a:r>
              <a:rPr sz="3300" b="1">
                <a:solidFill>
                  <a:srgbClr val="111111"/>
                </a:solidFill>
              </a:rPr>
              <a:t>PROBLEM (2/2): Unequal effort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633C1F-9DC1-4546-86BA-D4F160DE2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42862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11111"/>
                </a:solidFill>
              </a:defRPr>
            </a:pPr>
            <a:r>
              <a:rPr sz="1800">
                <a:solidFill>
                  <a:srgbClr val="111111"/>
                </a:solidFill>
              </a:rPr>
              <a:t>In most groups:</a:t>
            </a:r>
          </a:p>
          <a:p xmlns:a="http://schemas.openxmlformats.org/drawingml/2006/main">
            <a:pPr algn="l">
              <a:defRPr sz="1800">
                <a:solidFill>
                  <a:srgbClr val="111111"/>
                </a:solidFill>
              </a:defRPr>
            </a:pPr>
            <a:r>
              <a:rPr sz="1800">
                <a:solidFill>
                  <a:srgbClr val="111111"/>
                </a:solidFill>
              </a:rPr>
              <a:t>One person becomes the organizer</a:t>
            </a:r>
          </a:p>
          <a:p xmlns:a="http://schemas.openxmlformats.org/drawingml/2006/main">
            <a:pPr algn="l">
              <a:defRPr sz="1800">
                <a:solidFill>
                  <a:srgbClr val="111111"/>
                </a:solidFill>
              </a:defRPr>
            </a:pPr>
            <a:r>
              <a:rPr sz="1800">
                <a:solidFill>
                  <a:srgbClr val="111111"/>
                </a:solidFill>
              </a:rPr>
              <a:t>Others “react” instead of helping</a:t>
            </a:r>
          </a:p>
          <a:p xmlns:a="http://schemas.openxmlformats.org/drawingml/2006/main">
            <a:pPr algn="l">
              <a:defRPr sz="1800">
                <a:solidFill>
                  <a:srgbClr val="111111"/>
                </a:solidFill>
              </a:defRPr>
            </a:pPr>
            <a:r>
              <a:rPr sz="1800">
                <a:solidFill>
                  <a:srgbClr val="111111"/>
                </a:solidFill>
              </a:rPr>
              <a:t>Result: stress, slow planning, and sometimes no trip at all</a:t>
            </a:r>
          </a:p>
        </p:txBody>
      </p:sp>
    </p:spTree>
    <p:extLst>
      <p:ext uri="{BB962C8B-B14F-4D97-AF65-F5344CB8AC3E}">
        <p14:creationId xmlns:p14="http://schemas.microsoft.com/office/powerpoint/2010/main" val="83549165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9CF2DAB-F761-4912-9E69-4BC2A710568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1D2E21-179E-46E8-BDC0-98F044567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10820400" cy="190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DDCFF4-8C4B-4D81-813F-3D09B2F1E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10820400" cy="9525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E7037C-28B3-4BF0-8580-071EB306D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2286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6B7280"/>
                </a:solidFill>
              </a:defRPr>
            </a:pPr>
            <a:r>
              <a:rPr sz="1050">
                <a:solidFill>
                  <a:srgbClr val="6B7280"/>
                </a:solidFill>
              </a:rPr>
              <a:t>5 / 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5389C7-AFD1-4C74-B54F-B8F644E9E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2286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6B7280"/>
                </a:solidFill>
              </a:defRPr>
            </a:pPr>
            <a:r>
              <a:rPr sz="1050">
                <a:solidFill>
                  <a:srgbClr val="6B7280"/>
                </a:solidFill>
              </a:rPr>
              <a:t>tripable.pro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A1EFD6-DBCB-4036-BB84-AE26B2B6A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191500" cy="8572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111"/>
                </a:solidFill>
              </a:defRPr>
            </a:pPr>
            <a:r>
              <a:rPr sz="3300" b="1">
                <a:solidFill>
                  <a:srgbClr val="111111"/>
                </a:solidFill>
              </a:rPr>
              <a:t>WHO HAS THIS PROBLEM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DA32B9-C027-43FA-A44B-0BABD501F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42862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11111"/>
                </a:solidFill>
              </a:defRPr>
            </a:pPr>
            <a:r>
              <a:rPr sz="1800">
                <a:solidFill>
                  <a:srgbClr val="111111"/>
                </a:solidFill>
              </a:rPr>
              <a:t>Primary: college + grad students + young professionals (18–30)</a:t>
            </a:r>
          </a:p>
          <a:p xmlns:a="http://schemas.openxmlformats.org/drawingml/2006/main">
            <a:pPr algn="l">
              <a:defRPr sz="1800">
                <a:solidFill>
                  <a:srgbClr val="111111"/>
                </a:solidFill>
              </a:defRPr>
            </a:pPr>
            <a:r>
              <a:rPr sz="1800">
                <a:solidFill>
                  <a:srgbClr val="111111"/>
                </a:solidFill>
              </a:rPr>
              <a:t>Typical trip types:</a:t>
            </a:r>
          </a:p>
          <a:p xmlns:a="http://schemas.openxmlformats.org/drawingml/2006/main">
            <a:pPr algn="l">
              <a:defRPr sz="1800">
                <a:solidFill>
                  <a:srgbClr val="111111"/>
                </a:solidFill>
              </a:defRPr>
            </a:pPr>
            <a:r>
              <a:rPr sz="1800">
                <a:solidFill>
                  <a:srgbClr val="111111"/>
                </a:solidFill>
              </a:rPr>
              <a:t>weekend/day trips</a:t>
            </a:r>
          </a:p>
          <a:p xmlns:a="http://schemas.openxmlformats.org/drawingml/2006/main">
            <a:pPr algn="l">
              <a:defRPr sz="1800">
                <a:solidFill>
                  <a:srgbClr val="111111"/>
                </a:solidFill>
              </a:defRPr>
            </a:pPr>
            <a:r>
              <a:rPr sz="1800">
                <a:solidFill>
                  <a:srgbClr val="111111"/>
                </a:solidFill>
              </a:rPr>
              <a:t>break travel (spring/winter)</a:t>
            </a:r>
          </a:p>
          <a:p xmlns:a="http://schemas.openxmlformats.org/drawingml/2006/main">
            <a:pPr algn="l">
              <a:defRPr sz="1800">
                <a:solidFill>
                  <a:srgbClr val="111111"/>
                </a:solidFill>
              </a:defRPr>
            </a:pPr>
            <a:r>
              <a:rPr sz="1800">
                <a:solidFill>
                  <a:srgbClr val="111111"/>
                </a:solidFill>
              </a:rPr>
              <a:t>post-semester trips</a:t>
            </a:r>
          </a:p>
        </p:txBody>
      </p:sp>
    </p:spTree>
    <p:extLst>
      <p:ext uri="{BB962C8B-B14F-4D97-AF65-F5344CB8AC3E}">
        <p14:creationId xmlns:p14="http://schemas.microsoft.com/office/powerpoint/2010/main" val="38844298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9CF2DAB-F761-4912-9E69-4BC2A710568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221238-0045-4366-A3EE-674BDC25F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10820400" cy="190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D57839-99DB-424C-9A9D-9880BD27A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10820400" cy="9525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B327E8-3B58-4D64-A26F-DC9640A60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2286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6B7280"/>
                </a:solidFill>
              </a:defRPr>
            </a:pPr>
            <a:r>
              <a:rPr sz="1050">
                <a:solidFill>
                  <a:srgbClr val="6B7280"/>
                </a:solidFill>
              </a:rPr>
              <a:t>6 / 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D11C5B-4EF8-49DD-B3FF-3AA4C4A67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2286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6B7280"/>
                </a:solidFill>
              </a:defRPr>
            </a:pPr>
            <a:r>
              <a:rPr sz="1050">
                <a:solidFill>
                  <a:srgbClr val="6B7280"/>
                </a:solidFill>
              </a:rPr>
              <a:t>tripable.pro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22B7AE-6AC0-444E-93DE-262CDD559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191500" cy="8572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111"/>
                </a:solidFill>
              </a:defRPr>
            </a:pPr>
            <a:r>
              <a:rPr sz="3300" b="1">
                <a:solidFill>
                  <a:srgbClr val="111111"/>
                </a:solidFill>
              </a:rPr>
              <a:t>CURRENT WORKAROUNDS (STATUS QUO)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C4ABA1-9016-47EA-8829-10EE4FD99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42862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11111"/>
                </a:solidFill>
              </a:defRPr>
            </a:pPr>
            <a:r>
              <a:rPr sz="1800">
                <a:solidFill>
                  <a:srgbClr val="111111"/>
                </a:solidFill>
              </a:rPr>
              <a:t>People stitch together tools:</a:t>
            </a:r>
          </a:p>
          <a:p xmlns:a="http://schemas.openxmlformats.org/drawingml/2006/main">
            <a:pPr algn="l">
              <a:defRPr sz="1800">
                <a:solidFill>
                  <a:srgbClr val="111111"/>
                </a:solidFill>
              </a:defRPr>
            </a:pPr>
            <a:r>
              <a:rPr sz="1800">
                <a:solidFill>
                  <a:srgbClr val="111111"/>
                </a:solidFill>
              </a:rPr>
              <a:t>group chat for coordination</a:t>
            </a:r>
          </a:p>
          <a:p xmlns:a="http://schemas.openxmlformats.org/drawingml/2006/main">
            <a:pPr algn="l">
              <a:defRPr sz="1800">
                <a:solidFill>
                  <a:srgbClr val="111111"/>
                </a:solidFill>
              </a:defRPr>
            </a:pPr>
            <a:r>
              <a:rPr sz="1800">
                <a:solidFill>
                  <a:srgbClr val="111111"/>
                </a:solidFill>
              </a:rPr>
              <a:t>Google Doc/Sheet for notes + links</a:t>
            </a:r>
          </a:p>
          <a:p xmlns:a="http://schemas.openxmlformats.org/drawingml/2006/main">
            <a:pPr algn="l">
              <a:defRPr sz="1800">
                <a:solidFill>
                  <a:srgbClr val="111111"/>
                </a:solidFill>
              </a:defRPr>
            </a:pPr>
            <a:r>
              <a:rPr sz="1800">
                <a:solidFill>
                  <a:srgbClr val="111111"/>
                </a:solidFill>
              </a:rPr>
              <a:t>Doodle/When2Meet for dates</a:t>
            </a:r>
          </a:p>
          <a:p xmlns:a="http://schemas.openxmlformats.org/drawingml/2006/main">
            <a:pPr algn="l">
              <a:defRPr sz="1800">
                <a:solidFill>
                  <a:srgbClr val="111111"/>
                </a:solidFill>
              </a:defRPr>
            </a:pPr>
            <a:r>
              <a:rPr sz="1800">
                <a:solidFill>
                  <a:srgbClr val="111111"/>
                </a:solidFill>
              </a:rPr>
              <a:t>Airbnb/flight links in chat</a:t>
            </a:r>
          </a:p>
          <a:p xmlns:a="http://schemas.openxmlformats.org/drawingml/2006/main">
            <a:pPr algn="l">
              <a:defRPr sz="1800">
                <a:solidFill>
                  <a:srgbClr val="111111"/>
                </a:solidFill>
              </a:defRPr>
            </a:pPr>
            <a:r>
              <a:rPr sz="1800">
                <a:solidFill>
                  <a:srgbClr val="111111"/>
                </a:solidFill>
              </a:rPr>
              <a:t>Splitwise/spreadsheet for expenses</a:t>
            </a:r>
          </a:p>
          <a:p xmlns:a="http://schemas.openxmlformats.org/drawingml/2006/main">
            <a:pPr algn="l">
              <a:defRPr sz="1800">
                <a:solidFill>
                  <a:srgbClr val="111111"/>
                </a:solidFill>
              </a:defRPr>
            </a:pPr>
            <a:r>
              <a:rPr sz="1800">
                <a:solidFill>
                  <a:srgbClr val="111111"/>
                </a:solidFill>
              </a:rPr>
              <a:t>Pain: constant context switching + manual summarization</a:t>
            </a:r>
          </a:p>
        </p:txBody>
      </p:sp>
    </p:spTree>
    <p:extLst>
      <p:ext uri="{BB962C8B-B14F-4D97-AF65-F5344CB8AC3E}">
        <p14:creationId xmlns:p14="http://schemas.microsoft.com/office/powerpoint/2010/main" val="138848074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9CF2DAB-F761-4912-9E69-4BC2A710568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B2E4E2-DE45-4E5E-950E-FD74FD9BF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10820400" cy="190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5B63E2-CC39-4C35-9496-A2931BF93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10820400" cy="9525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D93626-AA1F-46D7-A995-1F84B35BE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2286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6B7280"/>
                </a:solidFill>
              </a:defRPr>
            </a:pPr>
            <a:r>
              <a:rPr sz="1050">
                <a:solidFill>
                  <a:srgbClr val="6B7280"/>
                </a:solidFill>
              </a:rPr>
              <a:t>7 / 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64ED16-6C2D-43AF-89DF-F0A7CF37A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2286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6B7280"/>
                </a:solidFill>
              </a:defRPr>
            </a:pPr>
            <a:r>
              <a:rPr sz="1050">
                <a:solidFill>
                  <a:srgbClr val="6B7280"/>
                </a:solidFill>
              </a:rPr>
              <a:t>tripable.pro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F35C82-E774-4C6D-B1F2-02314A3C5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191500" cy="8572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111"/>
                </a:solidFill>
              </a:defRPr>
            </a:pPr>
            <a:r>
              <a:rPr sz="3300" b="1">
                <a:solidFill>
                  <a:srgbClr val="111111"/>
                </a:solidFill>
              </a:rPr>
              <a:t>WHY NOW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B8C0C4-E736-4A97-A464-94680DE38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42862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11111"/>
                </a:solidFill>
              </a:defRPr>
            </a:pPr>
            <a:r>
              <a:rPr sz="1800">
                <a:solidFill>
                  <a:srgbClr val="111111"/>
                </a:solidFill>
              </a:rPr>
              <a:t>Group travel is frequent for 18–30 (short trips are common)</a:t>
            </a:r>
          </a:p>
          <a:p xmlns:a="http://schemas.openxmlformats.org/drawingml/2006/main">
            <a:pPr algn="l">
              <a:defRPr sz="1800">
                <a:solidFill>
                  <a:srgbClr val="111111"/>
                </a:solidFill>
              </a:defRPr>
            </a:pPr>
            <a:r>
              <a:rPr sz="1800">
                <a:solidFill>
                  <a:srgbClr val="111111"/>
                </a:solidFill>
              </a:rPr>
              <a:t>Collaboration norms are established (shared docs/boards, comments, votes)</a:t>
            </a:r>
          </a:p>
          <a:p xmlns:a="http://schemas.openxmlformats.org/drawingml/2006/main">
            <a:pPr algn="l">
              <a:defRPr sz="1800">
                <a:solidFill>
                  <a:srgbClr val="111111"/>
                </a:solidFill>
              </a:defRPr>
            </a:pPr>
            <a:r>
              <a:rPr sz="1800">
                <a:solidFill>
                  <a:srgbClr val="111111"/>
                </a:solidFill>
              </a:rPr>
              <a:t>Yet trip planning still defaults to unstructured chat threads</a:t>
            </a:r>
          </a:p>
          <a:p xmlns:a="http://schemas.openxmlformats.org/drawingml/2006/main">
            <a:pPr algn="l">
              <a:defRPr sz="1800">
                <a:solidFill>
                  <a:srgbClr val="111111"/>
                </a:solidFill>
              </a:defRPr>
            </a:pPr>
            <a:r>
              <a:rPr sz="1800">
                <a:solidFill>
                  <a:srgbClr val="111111"/>
                </a:solidFill>
              </a:rPr>
              <a:t>Opportunity: a purpose-built collaborative workspace for the full planning workflow</a:t>
            </a:r>
          </a:p>
        </p:txBody>
      </p:sp>
    </p:spTree>
    <p:extLst>
      <p:ext uri="{BB962C8B-B14F-4D97-AF65-F5344CB8AC3E}">
        <p14:creationId xmlns:p14="http://schemas.microsoft.com/office/powerpoint/2010/main" val="210044452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9CF2DAB-F761-4912-9E69-4BC2A710568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0FE2B9-6EE8-413F-969E-1CFFB806B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10820400" cy="190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251275-2069-4923-ADDA-E573736F5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10820400" cy="9525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92B06C-DE02-4555-825F-70283AA92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2286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6B7280"/>
                </a:solidFill>
              </a:defRPr>
            </a:pPr>
            <a:r>
              <a:rPr sz="1050">
                <a:solidFill>
                  <a:srgbClr val="6B7280"/>
                </a:solidFill>
              </a:rPr>
              <a:t>8 / 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3A963E-9EE2-498A-990F-F1E422CE0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2286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6B7280"/>
                </a:solidFill>
              </a:defRPr>
            </a:pPr>
            <a:r>
              <a:rPr sz="1050">
                <a:solidFill>
                  <a:srgbClr val="6B7280"/>
                </a:solidFill>
              </a:rPr>
              <a:t>tripable.pro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8D0EE5-AFC5-44A9-884D-7A66EBFAA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191500" cy="8572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111"/>
                </a:solidFill>
              </a:defRPr>
            </a:pPr>
            <a:r>
              <a:rPr sz="3300" b="1">
                <a:solidFill>
                  <a:srgbClr val="111111"/>
                </a:solidFill>
              </a:rPr>
              <a:t>SOLUTION (WHAT IT IS)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996EA0-007F-4EE6-A4A7-1E3AE5B23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42862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11111"/>
                </a:solidFill>
              </a:defRPr>
            </a:pPr>
            <a:r>
              <a:rPr sz="1800">
                <a:solidFill>
                  <a:srgbClr val="111111"/>
                </a:solidFill>
              </a:rPr>
              <a:t>Tripable is a “trip workspace” your group shares:</a:t>
            </a:r>
          </a:p>
          <a:p xmlns:a="http://schemas.openxmlformats.org/drawingml/2006/main">
            <a:pPr algn="l">
              <a:defRPr sz="1800">
                <a:solidFill>
                  <a:srgbClr val="111111"/>
                </a:solidFill>
              </a:defRPr>
            </a:pPr>
            <a:r>
              <a:rPr sz="1800">
                <a:solidFill>
                  <a:srgbClr val="111111"/>
                </a:solidFill>
              </a:rPr>
              <a:t>Tabs act like blank pages for brainstorming</a:t>
            </a:r>
          </a:p>
          <a:p xmlns:a="http://schemas.openxmlformats.org/drawingml/2006/main">
            <a:pPr algn="l">
              <a:defRPr sz="1800">
                <a:solidFill>
                  <a:srgbClr val="111111"/>
                </a:solidFill>
              </a:defRPr>
            </a:pPr>
            <a:r>
              <a:rPr sz="1800">
                <a:solidFill>
                  <a:srgbClr val="111111"/>
                </a:solidFill>
              </a:rPr>
              <a:t>Everyone can add options, comment, and vote</a:t>
            </a:r>
          </a:p>
          <a:p xmlns:a="http://schemas.openxmlformats.org/drawingml/2006/main">
            <a:pPr algn="l">
              <a:defRPr sz="1800">
                <a:solidFill>
                  <a:srgbClr val="111111"/>
                </a:solidFill>
              </a:defRPr>
            </a:pPr>
            <a:r>
              <a:rPr sz="1800">
                <a:solidFill>
                  <a:srgbClr val="111111"/>
                </a:solidFill>
              </a:rPr>
              <a:t>The workspace turns decisions into a plan (dates → picks → itinerary)</a:t>
            </a:r>
          </a:p>
        </p:txBody>
      </p:sp>
    </p:spTree>
    <p:extLst>
      <p:ext uri="{BB962C8B-B14F-4D97-AF65-F5344CB8AC3E}">
        <p14:creationId xmlns:p14="http://schemas.microsoft.com/office/powerpoint/2010/main" val="130492870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9CF2DAB-F761-4912-9E69-4BC2A710568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EE7638-9F1F-43B8-859F-0B2D8707F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10820400" cy="190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5F2633-6C77-4F6C-8D4E-5B81117A4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10820400" cy="9525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47833C-2C5C-4D27-BFDB-6AB240AF2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2286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6B7280"/>
                </a:solidFill>
              </a:defRPr>
            </a:pPr>
            <a:r>
              <a:rPr sz="1050">
                <a:solidFill>
                  <a:srgbClr val="6B7280"/>
                </a:solidFill>
              </a:rPr>
              <a:t>9 / 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DF6059-30D5-4FC4-95A3-6C8D74075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2286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6B7280"/>
                </a:solidFill>
              </a:defRPr>
            </a:pPr>
            <a:r>
              <a:rPr sz="1050">
                <a:solidFill>
                  <a:srgbClr val="6B7280"/>
                </a:solidFill>
              </a:rPr>
              <a:t>tripable.pro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CC7678-8FAE-48B4-8B7A-6381BDE08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191500" cy="8572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111"/>
                </a:solidFill>
              </a:defRPr>
            </a:pPr>
            <a:r>
              <a:rPr sz="3300" b="1">
                <a:solidFill>
                  <a:srgbClr val="111111"/>
                </a:solidFill>
              </a:rPr>
              <a:t>WORKSPACE MODEL (CORE IDEA)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662FF6-0FBD-4754-8062-BE58B8877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42862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11111"/>
                </a:solidFill>
              </a:defRPr>
            </a:pPr>
            <a:r>
              <a:rPr sz="1800">
                <a:solidFill>
                  <a:srgbClr val="111111"/>
                </a:solidFill>
              </a:rPr>
              <a:t>Each trip has tabs that behave like canvases:</a:t>
            </a:r>
          </a:p>
          <a:p xmlns:a="http://schemas.openxmlformats.org/drawingml/2006/main">
            <a:pPr algn="l">
              <a:defRPr sz="1800">
                <a:solidFill>
                  <a:srgbClr val="111111"/>
                </a:solidFill>
              </a:defRPr>
            </a:pPr>
            <a:r>
              <a:rPr sz="1800">
                <a:solidFill>
                  <a:srgbClr val="111111"/>
                </a:solidFill>
              </a:rPr>
              <a:t>1) Availability: mark conflicts; see group overlap</a:t>
            </a:r>
          </a:p>
          <a:p xmlns:a="http://schemas.openxmlformats.org/drawingml/2006/main">
            <a:pPr algn="l">
              <a:defRPr sz="1800">
                <a:solidFill>
                  <a:srgbClr val="111111"/>
                </a:solidFill>
              </a:defRPr>
            </a:pPr>
            <a:r>
              <a:rPr sz="1800">
                <a:solidFill>
                  <a:srgbClr val="111111"/>
                </a:solidFill>
              </a:rPr>
              <a:t>2) Places &amp; Activities: add options; attach links; comment; vote</a:t>
            </a:r>
          </a:p>
          <a:p xmlns:a="http://schemas.openxmlformats.org/drawingml/2006/main">
            <a:pPr algn="l">
              <a:defRPr sz="1800">
                <a:solidFill>
                  <a:srgbClr val="111111"/>
                </a:solidFill>
              </a:defRPr>
            </a:pPr>
            <a:r>
              <a:rPr sz="1800">
                <a:solidFill>
                  <a:srgbClr val="111111"/>
                </a:solidFill>
              </a:rPr>
              <a:t>3) Budget: propose ranges; track shared costs; split plan</a:t>
            </a:r>
          </a:p>
          <a:p xmlns:a="http://schemas.openxmlformats.org/drawingml/2006/main">
            <a:pPr algn="l">
              <a:defRPr sz="1800">
                <a:solidFill>
                  <a:srgbClr val="111111"/>
                </a:solidFill>
              </a:defRPr>
            </a:pPr>
            <a:r>
              <a:rPr sz="1800">
                <a:solidFill>
                  <a:srgbClr val="111111"/>
                </a:solidFill>
              </a:rPr>
              <a:t>4) Itinerary: convert winning items into a timeline</a:t>
            </a:r>
          </a:p>
          <a:p xmlns:a="http://schemas.openxmlformats.org/drawingml/2006/main">
            <a:pPr algn="l">
              <a:defRPr sz="1800">
                <a:solidFill>
                  <a:srgbClr val="111111"/>
                </a:solidFill>
              </a:defRPr>
            </a:pPr>
            <a:r>
              <a:rPr sz="1800">
                <a:solidFill>
                  <a:srgbClr val="111111"/>
                </a:solidFill>
              </a:rPr>
              <a:t>Design goal: collaborative + less stressful, not “one person managing”</a:t>
            </a:r>
          </a:p>
        </p:txBody>
      </p:sp>
    </p:spTree>
    <p:extLst>
      <p:ext uri="{BB962C8B-B14F-4D97-AF65-F5344CB8AC3E}">
        <p14:creationId xmlns:p14="http://schemas.microsoft.com/office/powerpoint/2010/main" val="46583611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9CF2DAB-F761-4912-9E69-4BC2A710568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BBB116-7CCC-4FB7-85D6-C81275226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10820400" cy="190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D25FB3-5CD5-4309-804A-6B9F39096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10820400" cy="9525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C32CD3-036F-49F6-9B4F-F1F6D2136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2286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6B7280"/>
                </a:solidFill>
              </a:defRPr>
            </a:pPr>
            <a:r>
              <a:rPr sz="1050">
                <a:solidFill>
                  <a:srgbClr val="6B7280"/>
                </a:solidFill>
              </a:rPr>
              <a:t>10 / 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E9CE44-E806-4938-8B6D-BDF8FD0A6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2286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6B7280"/>
                </a:solidFill>
              </a:defRPr>
            </a:pPr>
            <a:r>
              <a:rPr sz="1050">
                <a:solidFill>
                  <a:srgbClr val="6B7280"/>
                </a:solidFill>
              </a:rPr>
              <a:t>tripable.pro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A6D0AC-01FE-432C-9A95-0C3643208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191500" cy="8572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111"/>
                </a:solidFill>
              </a:defRPr>
            </a:pPr>
            <a:r>
              <a:rPr sz="3300" b="1">
                <a:solidFill>
                  <a:srgbClr val="111111"/>
                </a:solidFill>
              </a:rPr>
              <a:t>PRODUCT (CORE FLOW)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72706C-E0C3-4117-BCE6-FA9CB0F48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6667500" cy="42862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11111"/>
                </a:solidFill>
              </a:defRPr>
            </a:pPr>
            <a:r>
              <a:rPr sz="1800">
                <a:solidFill>
                  <a:srgbClr val="111111"/>
                </a:solidFill>
              </a:rPr>
              <a:t>1) Create trip, invite friends</a:t>
            </a:r>
          </a:p>
          <a:p xmlns:a="http://schemas.openxmlformats.org/drawingml/2006/main">
            <a:pPr algn="l">
              <a:defRPr sz="1800">
                <a:solidFill>
                  <a:srgbClr val="111111"/>
                </a:solidFill>
              </a:defRPr>
            </a:pPr>
            <a:r>
              <a:rPr sz="1800">
                <a:solidFill>
                  <a:srgbClr val="111111"/>
                </a:solidFill>
              </a:rPr>
              <a:t>2) Everyone marks availability</a:t>
            </a:r>
          </a:p>
          <a:p xmlns:a="http://schemas.openxmlformats.org/drawingml/2006/main">
            <a:pPr algn="l">
              <a:defRPr sz="1800">
                <a:solidFill>
                  <a:srgbClr val="111111"/>
                </a:solidFill>
              </a:defRPr>
            </a:pPr>
            <a:r>
              <a:rPr sz="1800">
                <a:solidFill>
                  <a:srgbClr val="111111"/>
                </a:solidFill>
              </a:rPr>
              <a:t>3) Add destinations/activities; vote + discuss</a:t>
            </a:r>
          </a:p>
          <a:p xmlns:a="http://schemas.openxmlformats.org/drawingml/2006/main">
            <a:pPr algn="l">
              <a:defRPr sz="1800">
                <a:solidFill>
                  <a:srgbClr val="111111"/>
                </a:solidFill>
              </a:defRPr>
            </a:pPr>
            <a:r>
              <a:rPr sz="1800">
                <a:solidFill>
                  <a:srgbClr val="111111"/>
                </a:solidFill>
              </a:rPr>
              <a:t>4) Choose winners; generate a realistic itinerary</a:t>
            </a:r>
          </a:p>
          <a:p xmlns:a="http://schemas.openxmlformats.org/drawingml/2006/main">
            <a:pPr algn="l">
              <a:defRPr sz="1800">
                <a:solidFill>
                  <a:srgbClr val="111111"/>
                </a:solidFill>
              </a:defRPr>
            </a:pPr>
            <a:r>
              <a:rPr sz="1800">
                <a:solidFill>
                  <a:srgbClr val="111111"/>
                </a:solidFill>
              </a:rPr>
              <a:t>5) Track/split shared expenses</a:t>
            </a:r>
          </a:p>
          <a:p xmlns:a="http://schemas.openxmlformats.org/drawingml/2006/main">
            <a:pPr algn="l">
              <a:defRPr sz="1800">
                <a:solidFill>
                  <a:srgbClr val="111111"/>
                </a:solidFill>
              </a:defRPr>
            </a:pPr>
            <a:r>
              <a:rPr sz="1800">
                <a:solidFill>
                  <a:srgbClr val="111111"/>
                </a:solidFill>
              </a:rPr>
              <a:t>Outcome: clear plan that the whole group helped create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90CAAD-4175-4F97-A273-B329BC8D6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657350"/>
            <a:ext cx="3429000" cy="3429000"/>
          </a:xfrm>
          <a:prstGeom xmlns:a="http://schemas.openxmlformats.org/drawingml/2006/main" prst="roundRect">
            <a:avLst>
              <a:gd name="adj" fmla="val 18000"/>
            </a:avLst>
          </a:prstGeom>
          <a:ln xmlns:a="http://schemas.openxmlformats.org/drawingml/2006/main" w="9525">
            <a:solidFill>
              <a:srgbClr val="E5E7EB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6B7280"/>
                </a:solidFill>
              </a:defRPr>
            </a:pPr>
            <a:r>
              <a:rPr sz="1350">
                <a:solidFill>
                  <a:srgbClr val="6B7280"/>
                </a:solidFill>
              </a:rPr>
              <a:t>Visual / GIF</a:t>
            </a:r>
          </a:p>
          <a:p xmlns:a="http://schemas.openxmlformats.org/drawingml/2006/main">
            <a:pPr algn="ctr">
              <a:defRPr sz="1350">
                <a:solidFill>
                  <a:srgbClr val="6B7280"/>
                </a:solidFill>
              </a:defRPr>
            </a:pPr>
            <a:r>
              <a:rPr sz="1350">
                <a:solidFill>
                  <a:srgbClr val="6B7280"/>
                </a:solidFill>
              </a:rPr>
              <a:t>(placeholder)</a:t>
            </a:r>
          </a:p>
        </p:txBody>
      </p:sp>
    </p:spTree>
    <p:extLst>
      <p:ext uri="{BB962C8B-B14F-4D97-AF65-F5344CB8AC3E}">
        <p14:creationId xmlns:p14="http://schemas.microsoft.com/office/powerpoint/2010/main" val="65633788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9CF2DAB-F761-4912-9E69-4BC2A710568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31CF28-D328-4708-85AB-DBB68CA54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10820400" cy="190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BFD21C-6867-4D43-B066-12A3EEF87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10820400" cy="9525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C587D7-1EF1-4299-B94C-9ED882A2A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2286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6B7280"/>
                </a:solidFill>
              </a:defRPr>
            </a:pPr>
            <a:r>
              <a:rPr sz="1050">
                <a:solidFill>
                  <a:srgbClr val="6B7280"/>
                </a:solidFill>
              </a:rPr>
              <a:t>11 / 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78653B-FFC8-4258-BF17-A1D2420F9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2286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6B7280"/>
                </a:solidFill>
              </a:defRPr>
            </a:pPr>
            <a:r>
              <a:rPr sz="1050">
                <a:solidFill>
                  <a:srgbClr val="6B7280"/>
                </a:solidFill>
              </a:rPr>
              <a:t>tripable.pro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94BBAD-55E8-45B6-BD05-B910D5523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191500" cy="8572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111"/>
                </a:solidFill>
              </a:defRPr>
            </a:pPr>
            <a:r>
              <a:rPr sz="3300" b="1">
                <a:solidFill>
                  <a:srgbClr val="111111"/>
                </a:solidFill>
              </a:rPr>
              <a:t>PRODUCT (AHA MOMENT)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F6ED51-E5C0-4135-96CC-0485D6D89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42862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11111"/>
                </a:solidFill>
              </a:defRPr>
            </a:pPr>
            <a:r>
              <a:rPr sz="1800">
                <a:solidFill>
                  <a:srgbClr val="111111"/>
                </a:solidFill>
              </a:rPr>
              <a:t>The “aha” is participation:</a:t>
            </a:r>
          </a:p>
          <a:p xmlns:a="http://schemas.openxmlformats.org/drawingml/2006/main">
            <a:pPr algn="l">
              <a:defRPr sz="1800">
                <a:solidFill>
                  <a:srgbClr val="111111"/>
                </a:solidFill>
              </a:defRPr>
            </a:pPr>
            <a:r>
              <a:rPr sz="1800">
                <a:solidFill>
                  <a:srgbClr val="111111"/>
                </a:solidFill>
              </a:rPr>
              <a:t>Availability view reduces back-and-forth</a:t>
            </a:r>
          </a:p>
          <a:p xmlns:a="http://schemas.openxmlformats.org/drawingml/2006/main">
            <a:pPr algn="l">
              <a:defRPr sz="1800">
                <a:solidFill>
                  <a:srgbClr val="111111"/>
                </a:solidFill>
              </a:defRPr>
            </a:pPr>
            <a:r>
              <a:rPr sz="1800">
                <a:solidFill>
                  <a:srgbClr val="111111"/>
                </a:solidFill>
              </a:rPr>
              <a:t>Voting/comments turns a messy debate into visible decisions</a:t>
            </a:r>
          </a:p>
          <a:p xmlns:a="http://schemas.openxmlformats.org/drawingml/2006/main">
            <a:pPr algn="l">
              <a:defRPr sz="1800">
                <a:solidFill>
                  <a:srgbClr val="111111"/>
                </a:solidFill>
              </a:defRPr>
            </a:pPr>
            <a:r>
              <a:rPr sz="1800">
                <a:solidFill>
                  <a:srgbClr val="111111"/>
                </a:solidFill>
              </a:rPr>
              <a:t>Itinerary tab turns “winning ideas” into a plan you can execute</a:t>
            </a:r>
          </a:p>
        </p:txBody>
      </p:sp>
    </p:spTree>
    <p:extLst>
      <p:ext uri="{BB962C8B-B14F-4D97-AF65-F5344CB8AC3E}">
        <p14:creationId xmlns:p14="http://schemas.microsoft.com/office/powerpoint/2010/main" val="15210941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9CF2DAB-F761-4912-9E69-4BC2A710568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423AA3-A804-421E-9443-3204DE0F8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10820400" cy="190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000675-68CA-4032-82F3-5A0CCB828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10820400" cy="9525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766EC8-EB7D-474E-B352-F06C30FFA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2286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6B7280"/>
                </a:solidFill>
              </a:defRPr>
            </a:pPr>
            <a:r>
              <a:rPr sz="1050">
                <a:solidFill>
                  <a:srgbClr val="6B7280"/>
                </a:solidFill>
              </a:rPr>
              <a:t>12 / 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4B28CE-62D0-4C5E-863E-243D8125D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2286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6B7280"/>
                </a:solidFill>
              </a:defRPr>
            </a:pPr>
            <a:r>
              <a:rPr sz="1050">
                <a:solidFill>
                  <a:srgbClr val="6B7280"/>
                </a:solidFill>
              </a:rPr>
              <a:t>tripable.pro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B98ACA-E43F-4533-B965-0C72F6CB1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191500" cy="8572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111"/>
                </a:solidFill>
              </a:defRPr>
            </a:pPr>
            <a:r>
              <a:rPr sz="3300" b="1">
                <a:solidFill>
                  <a:srgbClr val="111111"/>
                </a:solidFill>
              </a:rPr>
              <a:t>COMPETITION (POINT SOLUTIONS)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4CA1CE-3F48-49C2-8DCA-FCB62A586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6667500" cy="42862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11111"/>
                </a:solidFill>
              </a:defRPr>
            </a:pPr>
            <a:r>
              <a:rPr sz="1800">
                <a:solidFill>
                  <a:srgbClr val="111111"/>
                </a:solidFill>
              </a:rPr>
              <a:t>Point tools solve slices of the workflow:</a:t>
            </a:r>
          </a:p>
          <a:p xmlns:a="http://schemas.openxmlformats.org/drawingml/2006/main">
            <a:pPr algn="l">
              <a:defRPr sz="1800">
                <a:solidFill>
                  <a:srgbClr val="111111"/>
                </a:solidFill>
              </a:defRPr>
            </a:pPr>
            <a:r>
              <a:rPr sz="1800">
                <a:solidFill>
                  <a:srgbClr val="111111"/>
                </a:solidFill>
              </a:rPr>
              <a:t>Itinerary tools (e.g., itinerary builders)</a:t>
            </a:r>
          </a:p>
          <a:p xmlns:a="http://schemas.openxmlformats.org/drawingml/2006/main">
            <a:pPr algn="l">
              <a:defRPr sz="1800">
                <a:solidFill>
                  <a:srgbClr val="111111"/>
                </a:solidFill>
              </a:defRPr>
            </a:pPr>
            <a:r>
              <a:rPr sz="1800">
                <a:solidFill>
                  <a:srgbClr val="111111"/>
                </a:solidFill>
              </a:rPr>
              <a:t>Expense tools (Splitwise)</a:t>
            </a:r>
          </a:p>
          <a:p xmlns:a="http://schemas.openxmlformats.org/drawingml/2006/main">
            <a:pPr algn="l">
              <a:defRPr sz="1800">
                <a:solidFill>
                  <a:srgbClr val="111111"/>
                </a:solidFill>
              </a:defRPr>
            </a:pPr>
            <a:r>
              <a:rPr sz="1800">
                <a:solidFill>
                  <a:srgbClr val="111111"/>
                </a:solidFill>
              </a:rPr>
              <a:t>Polls (simple voting)</a:t>
            </a:r>
          </a:p>
          <a:p xmlns:a="http://schemas.openxmlformats.org/drawingml/2006/main">
            <a:pPr algn="l">
              <a:defRPr sz="1800">
                <a:solidFill>
                  <a:srgbClr val="111111"/>
                </a:solidFill>
              </a:defRPr>
            </a:pPr>
            <a:r>
              <a:rPr sz="1800">
                <a:solidFill>
                  <a:srgbClr val="111111"/>
                </a:solidFill>
              </a:rPr>
              <a:t>Scheduling (When2Meet/Doodle)</a:t>
            </a:r>
          </a:p>
          <a:p xmlns:a="http://schemas.openxmlformats.org/drawingml/2006/main">
            <a:pPr algn="l">
              <a:defRPr sz="1800">
                <a:solidFill>
                  <a:srgbClr val="111111"/>
                </a:solidFill>
              </a:defRPr>
            </a:pPr>
            <a:r>
              <a:rPr sz="1800">
                <a:solidFill>
                  <a:srgbClr val="111111"/>
                </a:solidFill>
              </a:rPr>
              <a:t>Tripable’s bet: the value is in integrating the full group workflow into one shared space.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3EFC44-44CB-4C00-8912-012397C78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657350"/>
            <a:ext cx="3429000" cy="3429000"/>
          </a:xfrm>
          <a:prstGeom xmlns:a="http://schemas.openxmlformats.org/drawingml/2006/main" prst="roundRect">
            <a:avLst>
              <a:gd name="adj" fmla="val 18000"/>
            </a:avLst>
          </a:prstGeom>
          <a:ln xmlns:a="http://schemas.openxmlformats.org/drawingml/2006/main" w="9525">
            <a:solidFill>
              <a:srgbClr val="E5E7EB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6B7280"/>
                </a:solidFill>
              </a:defRPr>
            </a:pPr>
            <a:r>
              <a:rPr sz="1350">
                <a:solidFill>
                  <a:srgbClr val="6B7280"/>
                </a:solidFill>
              </a:rPr>
              <a:t>Visual / GIF</a:t>
            </a:r>
          </a:p>
          <a:p xmlns:a="http://schemas.openxmlformats.org/drawingml/2006/main">
            <a:pPr algn="ctr">
              <a:defRPr sz="1350">
                <a:solidFill>
                  <a:srgbClr val="6B7280"/>
                </a:solidFill>
              </a:defRPr>
            </a:pPr>
            <a:r>
              <a:rPr sz="1350">
                <a:solidFill>
                  <a:srgbClr val="6B7280"/>
                </a:solidFill>
              </a:rPr>
              <a:t>(placeholder)</a:t>
            </a:r>
          </a:p>
        </p:txBody>
      </p:sp>
    </p:spTree>
    <p:extLst>
      <p:ext uri="{BB962C8B-B14F-4D97-AF65-F5344CB8AC3E}">
        <p14:creationId xmlns:p14="http://schemas.microsoft.com/office/powerpoint/2010/main" val="44358333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9CF2DAB-F761-4912-9E69-4BC2A710568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7A32EE-2A00-4A5D-A33B-614D00997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10820400" cy="190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5F14E9-D6FA-4802-8E5D-F957AA579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10820400" cy="9525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1FF65A-5603-458D-8BF7-E47E6C90A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2286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6B7280"/>
                </a:solidFill>
              </a:defRPr>
            </a:pPr>
            <a:r>
              <a:rPr sz="1050">
                <a:solidFill>
                  <a:srgbClr val="6B7280"/>
                </a:solidFill>
              </a:rPr>
              <a:t>13 / 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C8B840-852C-45E9-B254-5E943A0B8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2286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6B7280"/>
                </a:solidFill>
              </a:defRPr>
            </a:pPr>
            <a:r>
              <a:rPr sz="1050">
                <a:solidFill>
                  <a:srgbClr val="6B7280"/>
                </a:solidFill>
              </a:rPr>
              <a:t>tripable.pro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154739-218F-403C-8F59-BD6D3F96F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191500" cy="8572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111"/>
                </a:solidFill>
              </a:defRPr>
            </a:pPr>
            <a:r>
              <a:rPr sz="3300" b="1">
                <a:solidFill>
                  <a:srgbClr val="111111"/>
                </a:solidFill>
              </a:rPr>
              <a:t>COMPETITION (STATUS QUO IS THE BIGGEST)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E6F5A1-E48C-494B-AA09-5BB8F4C50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6667500" cy="42862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11111"/>
                </a:solidFill>
              </a:defRPr>
            </a:pPr>
            <a:r>
              <a:rPr sz="1800">
                <a:solidFill>
                  <a:srgbClr val="111111"/>
                </a:solidFill>
              </a:rPr>
              <a:t>The real competitor is “doing nothing new”:</a:t>
            </a:r>
          </a:p>
          <a:p xmlns:a="http://schemas.openxmlformats.org/drawingml/2006/main">
            <a:pPr algn="l">
              <a:defRPr sz="1800">
                <a:solidFill>
                  <a:srgbClr val="111111"/>
                </a:solidFill>
              </a:defRPr>
            </a:pPr>
            <a:r>
              <a:rPr sz="1800">
                <a:solidFill>
                  <a:srgbClr val="111111"/>
                </a:solidFill>
              </a:rPr>
              <a:t>iMessage/WhatsApp + Google Docs + links + reminders</a:t>
            </a:r>
          </a:p>
          <a:p xmlns:a="http://schemas.openxmlformats.org/drawingml/2006/main">
            <a:pPr algn="l">
              <a:defRPr sz="1800">
                <a:solidFill>
                  <a:srgbClr val="111111"/>
                </a:solidFill>
              </a:defRPr>
            </a:pPr>
            <a:r>
              <a:rPr sz="1800">
                <a:solidFill>
                  <a:srgbClr val="111111"/>
                </a:solidFill>
              </a:rPr>
              <a:t>Tripable wins by:</a:t>
            </a:r>
          </a:p>
          <a:p xmlns:a="http://schemas.openxmlformats.org/drawingml/2006/main">
            <a:pPr algn="l">
              <a:defRPr sz="1800">
                <a:solidFill>
                  <a:srgbClr val="111111"/>
                </a:solidFill>
              </a:defRPr>
            </a:pPr>
            <a:r>
              <a:rPr sz="1800">
                <a:solidFill>
                  <a:srgbClr val="111111"/>
                </a:solidFill>
              </a:rPr>
              <a:t>making decisions legible (votes/comments)</a:t>
            </a:r>
          </a:p>
          <a:p xmlns:a="http://schemas.openxmlformats.org/drawingml/2006/main">
            <a:pPr algn="l">
              <a:defRPr sz="1800">
                <a:solidFill>
                  <a:srgbClr val="111111"/>
                </a:solidFill>
              </a:defRPr>
            </a:pPr>
            <a:r>
              <a:rPr sz="1800">
                <a:solidFill>
                  <a:srgbClr val="111111"/>
                </a:solidFill>
              </a:rPr>
              <a:t>making participation easy (async contribution)</a:t>
            </a:r>
          </a:p>
          <a:p xmlns:a="http://schemas.openxmlformats.org/drawingml/2006/main">
            <a:pPr algn="l">
              <a:defRPr sz="1800">
                <a:solidFill>
                  <a:srgbClr val="111111"/>
                </a:solidFill>
              </a:defRPr>
            </a:pPr>
            <a:r>
              <a:rPr sz="1800">
                <a:solidFill>
                  <a:srgbClr val="111111"/>
                </a:solidFill>
              </a:rPr>
              <a:t>reducing organizer burden (shared ownership)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2E9B4A-07D6-4C67-9859-16B37F35C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657350"/>
            <a:ext cx="3429000" cy="3429000"/>
          </a:xfrm>
          <a:prstGeom xmlns:a="http://schemas.openxmlformats.org/drawingml/2006/main" prst="roundRect">
            <a:avLst>
              <a:gd name="adj" fmla="val 18000"/>
            </a:avLst>
          </a:prstGeom>
          <a:ln xmlns:a="http://schemas.openxmlformats.org/drawingml/2006/main" w="9525">
            <a:solidFill>
              <a:srgbClr val="E5E7EB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6B7280"/>
                </a:solidFill>
              </a:defRPr>
            </a:pPr>
            <a:r>
              <a:rPr sz="1350">
                <a:solidFill>
                  <a:srgbClr val="6B7280"/>
                </a:solidFill>
              </a:rPr>
              <a:t>Visual / GIF</a:t>
            </a:r>
          </a:p>
          <a:p xmlns:a="http://schemas.openxmlformats.org/drawingml/2006/main">
            <a:pPr algn="ctr">
              <a:defRPr sz="1350">
                <a:solidFill>
                  <a:srgbClr val="6B7280"/>
                </a:solidFill>
              </a:defRPr>
            </a:pPr>
            <a:r>
              <a:rPr sz="1350">
                <a:solidFill>
                  <a:srgbClr val="6B7280"/>
                </a:solidFill>
              </a:rPr>
              <a:t>(placeholder)</a:t>
            </a:r>
          </a:p>
        </p:txBody>
      </p:sp>
    </p:spTree>
    <p:extLst>
      <p:ext uri="{BB962C8B-B14F-4D97-AF65-F5344CB8AC3E}">
        <p14:creationId xmlns:p14="http://schemas.microsoft.com/office/powerpoint/2010/main" val="198223610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9CF2DAB-F761-4912-9E69-4BC2A710568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FF5C77-13EC-49D3-BC85-B4FA5B699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10820400" cy="190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11CF0E-9DFD-4FCF-856E-CA855F08B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10820400" cy="9525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70A290-F9E8-411E-83F9-255906E11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2286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6B7280"/>
                </a:solidFill>
              </a:defRPr>
            </a:pPr>
            <a:r>
              <a:rPr sz="1050">
                <a:solidFill>
                  <a:srgbClr val="6B7280"/>
                </a:solidFill>
              </a:rPr>
              <a:t>14 / 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E84F5B-B592-49AF-A431-F5D1BEF96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2286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6B7280"/>
                </a:solidFill>
              </a:defRPr>
            </a:pPr>
            <a:r>
              <a:rPr sz="1050">
                <a:solidFill>
                  <a:srgbClr val="6B7280"/>
                </a:solidFill>
              </a:rPr>
              <a:t>tripable.pro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536957-7FD9-4C5A-8CDD-8DBE5312E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191500" cy="8572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111"/>
                </a:solidFill>
              </a:defRPr>
            </a:pPr>
            <a:r>
              <a:rPr sz="3300" b="1">
                <a:solidFill>
                  <a:srgbClr val="111111"/>
                </a:solidFill>
              </a:rPr>
              <a:t>TRACTION (WHAT WE HAVE)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59E490-AE4B-4220-AC4B-CEF53304E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6667500" cy="42862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11111"/>
                </a:solidFill>
              </a:defRPr>
            </a:pPr>
            <a:r>
              <a:rPr sz="1800">
                <a:solidFill>
                  <a:srgbClr val="111111"/>
                </a:solidFill>
              </a:rPr>
              <a:t>Working MVP at tripable.pro</a:t>
            </a:r>
          </a:p>
          <a:p xmlns:a="http://schemas.openxmlformats.org/drawingml/2006/main">
            <a:pPr algn="l">
              <a:defRPr sz="1800">
                <a:solidFill>
                  <a:srgbClr val="111111"/>
                </a:solidFill>
              </a:defRPr>
            </a:pPr>
            <a:r>
              <a:rPr sz="1800">
                <a:solidFill>
                  <a:srgbClr val="111111"/>
                </a:solidFill>
              </a:rPr>
              <a:t>Validated pain via user interviews in this repo (planning is “chaotic”, “messy”, “takes forever”)</a:t>
            </a:r>
          </a:p>
          <a:p xmlns:a="http://schemas.openxmlformats.org/drawingml/2006/main">
            <a:pPr algn="l">
              <a:defRPr sz="1800">
                <a:solidFill>
                  <a:srgbClr val="111111"/>
                </a:solidFill>
              </a:defRPr>
            </a:pPr>
            <a:r>
              <a:rPr sz="1800">
                <a:solidFill>
                  <a:srgbClr val="111111"/>
                </a:solidFill>
              </a:rPr>
              <a:t>Distribution experiments queued: Reddit, Discord, campus outreach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19EB41-D22D-40A4-AB1A-9070D4EB6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657350"/>
            <a:ext cx="3429000" cy="3429000"/>
          </a:xfrm>
          <a:prstGeom xmlns:a="http://schemas.openxmlformats.org/drawingml/2006/main" prst="roundRect">
            <a:avLst>
              <a:gd name="adj" fmla="val 18000"/>
            </a:avLst>
          </a:prstGeom>
          <a:ln xmlns:a="http://schemas.openxmlformats.org/drawingml/2006/main" w="9525">
            <a:solidFill>
              <a:srgbClr val="E5E7EB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6B7280"/>
                </a:solidFill>
              </a:defRPr>
            </a:pPr>
            <a:r>
              <a:rPr sz="1350">
                <a:solidFill>
                  <a:srgbClr val="6B7280"/>
                </a:solidFill>
              </a:rPr>
              <a:t>Visual / GIF</a:t>
            </a:r>
          </a:p>
          <a:p xmlns:a="http://schemas.openxmlformats.org/drawingml/2006/main">
            <a:pPr algn="ctr">
              <a:defRPr sz="1350">
                <a:solidFill>
                  <a:srgbClr val="6B7280"/>
                </a:solidFill>
              </a:defRPr>
            </a:pPr>
            <a:r>
              <a:rPr sz="1350">
                <a:solidFill>
                  <a:srgbClr val="6B7280"/>
                </a:solidFill>
              </a:rPr>
              <a:t>(placeholder)</a:t>
            </a:r>
          </a:p>
        </p:txBody>
      </p:sp>
    </p:spTree>
    <p:extLst>
      <p:ext uri="{BB962C8B-B14F-4D97-AF65-F5344CB8AC3E}">
        <p14:creationId xmlns:p14="http://schemas.microsoft.com/office/powerpoint/2010/main" val="73012775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9CF2DAB-F761-4912-9E69-4BC2A710568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28C4BE-382B-425A-9E81-949F03E56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10820400" cy="190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134DFC-0A9C-4B1F-8A51-A847C9D72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10820400" cy="9525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7ADF42-5C6F-46E8-8C7C-33CB4B559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2286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6B7280"/>
                </a:solidFill>
              </a:defRPr>
            </a:pPr>
            <a:r>
              <a:rPr sz="1050">
                <a:solidFill>
                  <a:srgbClr val="6B7280"/>
                </a:solidFill>
              </a:rPr>
              <a:t>15 / 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B4A065-55D2-46B0-8795-61A8F2B19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2286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6B7280"/>
                </a:solidFill>
              </a:defRPr>
            </a:pPr>
            <a:r>
              <a:rPr sz="1050">
                <a:solidFill>
                  <a:srgbClr val="6B7280"/>
                </a:solidFill>
              </a:rPr>
              <a:t>tripable.pro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6946EF-0077-4D8E-B0EB-EF179FF86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191500" cy="8572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111"/>
                </a:solidFill>
              </a:defRPr>
            </a:pPr>
            <a:r>
              <a:rPr sz="3300" b="1">
                <a:solidFill>
                  <a:srgbClr val="111111"/>
                </a:solidFill>
              </a:rPr>
              <a:t>TRACTION (WHAT WE NEED NEXT)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403167-64E7-442B-9AB6-AFA7EB226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6667500" cy="42862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11111"/>
                </a:solidFill>
              </a:defRPr>
            </a:pPr>
            <a:r>
              <a:rPr sz="1800">
                <a:solidFill>
                  <a:srgbClr val="111111"/>
                </a:solidFill>
              </a:rPr>
              <a:t>We need to prove:</a:t>
            </a:r>
          </a:p>
          <a:p xmlns:a="http://schemas.openxmlformats.org/drawingml/2006/main">
            <a:pPr algn="l">
              <a:defRPr sz="1800">
                <a:solidFill>
                  <a:srgbClr val="111111"/>
                </a:solidFill>
              </a:defRPr>
            </a:pPr>
            <a:r>
              <a:rPr sz="1800">
                <a:solidFill>
                  <a:srgbClr val="111111"/>
                </a:solidFill>
              </a:rPr>
              <a:t>retention across a full planning cycle (2–6 weeks)</a:t>
            </a:r>
          </a:p>
          <a:p xmlns:a="http://schemas.openxmlformats.org/drawingml/2006/main">
            <a:pPr algn="l">
              <a:defRPr sz="1800">
                <a:solidFill>
                  <a:srgbClr val="111111"/>
                </a:solidFill>
              </a:defRPr>
            </a:pPr>
            <a:r>
              <a:rPr sz="1800">
                <a:solidFill>
                  <a:srgbClr val="111111"/>
                </a:solidFill>
              </a:rPr>
              <a:t>group participation (not just organizers)</a:t>
            </a:r>
          </a:p>
          <a:p xmlns:a="http://schemas.openxmlformats.org/drawingml/2006/main">
            <a:pPr algn="l">
              <a:defRPr sz="1800">
                <a:solidFill>
                  <a:srgbClr val="111111"/>
                </a:solidFill>
              </a:defRPr>
            </a:pPr>
            <a:r>
              <a:rPr sz="1800">
                <a:solidFill>
                  <a:srgbClr val="111111"/>
                </a:solidFill>
              </a:rPr>
              <a:t>time-to-decision reduction vs. group chat</a:t>
            </a:r>
          </a:p>
          <a:p xmlns:a="http://schemas.openxmlformats.org/drawingml/2006/main">
            <a:pPr algn="l">
              <a:defRPr sz="1800">
                <a:solidFill>
                  <a:srgbClr val="111111"/>
                </a:solidFill>
              </a:defRPr>
            </a:pPr>
            <a:r>
              <a:rPr sz="1800">
                <a:solidFill>
                  <a:srgbClr val="111111"/>
                </a:solidFill>
              </a:rPr>
              <a:t>Near-term metrics (targets):</a:t>
            </a:r>
          </a:p>
          <a:p xmlns:a="http://schemas.openxmlformats.org/drawingml/2006/main">
            <a:pPr algn="l">
              <a:defRPr sz="1800">
                <a:solidFill>
                  <a:srgbClr val="111111"/>
                </a:solidFill>
              </a:defRPr>
            </a:pPr>
            <a:r>
              <a:rPr sz="1800">
                <a:solidFill>
                  <a:srgbClr val="111111"/>
                </a:solidFill>
              </a:rPr>
              <a:t>20 groups onboarded</a:t>
            </a:r>
          </a:p>
          <a:p xmlns:a="http://schemas.openxmlformats.org/drawingml/2006/main">
            <a:pPr algn="l">
              <a:defRPr sz="1800">
                <a:solidFill>
                  <a:srgbClr val="111111"/>
                </a:solidFill>
              </a:defRPr>
            </a:pPr>
            <a:r>
              <a:rPr sz="1800">
                <a:solidFill>
                  <a:srgbClr val="111111"/>
                </a:solidFill>
              </a:rPr>
              <a:t>50%+ of invited members contribute (vote/comment/add)</a:t>
            </a:r>
          </a:p>
          <a:p xmlns:a="http://schemas.openxmlformats.org/drawingml/2006/main">
            <a:pPr algn="l">
              <a:defRPr sz="1800">
                <a:solidFill>
                  <a:srgbClr val="111111"/>
                </a:solidFill>
              </a:defRPr>
            </a:pPr>
            <a:r>
              <a:rPr sz="1800">
                <a:solidFill>
                  <a:srgbClr val="111111"/>
                </a:solidFill>
              </a:rPr>
              <a:t>1 completed itinerary per group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BC5A55-F9CA-43FA-88CD-86F8B1DB3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657350"/>
            <a:ext cx="3429000" cy="3429000"/>
          </a:xfrm>
          <a:prstGeom xmlns:a="http://schemas.openxmlformats.org/drawingml/2006/main" prst="roundRect">
            <a:avLst>
              <a:gd name="adj" fmla="val 18000"/>
            </a:avLst>
          </a:prstGeom>
          <a:ln xmlns:a="http://schemas.openxmlformats.org/drawingml/2006/main" w="9525">
            <a:solidFill>
              <a:srgbClr val="E5E7EB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6B7280"/>
                </a:solidFill>
              </a:defRPr>
            </a:pPr>
            <a:r>
              <a:rPr sz="1350">
                <a:solidFill>
                  <a:srgbClr val="6B7280"/>
                </a:solidFill>
              </a:rPr>
              <a:t>Visual / GIF</a:t>
            </a:r>
          </a:p>
          <a:p xmlns:a="http://schemas.openxmlformats.org/drawingml/2006/main">
            <a:pPr algn="ctr">
              <a:defRPr sz="1350">
                <a:solidFill>
                  <a:srgbClr val="6B7280"/>
                </a:solidFill>
              </a:defRPr>
            </a:pPr>
            <a:r>
              <a:rPr sz="1350">
                <a:solidFill>
                  <a:srgbClr val="6B7280"/>
                </a:solidFill>
              </a:rPr>
              <a:t>(placeholder)</a:t>
            </a:r>
          </a:p>
        </p:txBody>
      </p:sp>
    </p:spTree>
    <p:extLst>
      <p:ext uri="{BB962C8B-B14F-4D97-AF65-F5344CB8AC3E}">
        <p14:creationId xmlns:p14="http://schemas.microsoft.com/office/powerpoint/2010/main" val="64449176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9CF2DAB-F761-4912-9E69-4BC2A710568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BD1003-831A-46F1-89F3-4DBEA829D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10820400" cy="190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00FB8C-C2D7-4EB4-9414-128DEBBC6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10820400" cy="9525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A654C5-A1AE-4A0F-BC2C-692A5ED91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2286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6B7280"/>
                </a:solidFill>
              </a:defRPr>
            </a:pPr>
            <a:r>
              <a:rPr sz="1050">
                <a:solidFill>
                  <a:srgbClr val="6B7280"/>
                </a:solidFill>
              </a:rPr>
              <a:t>16 / 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4A18BD-82FE-4F28-B534-E79403DEE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2286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6B7280"/>
                </a:solidFill>
              </a:defRPr>
            </a:pPr>
            <a:r>
              <a:rPr sz="1050">
                <a:solidFill>
                  <a:srgbClr val="6B7280"/>
                </a:solidFill>
              </a:rPr>
              <a:t>tripable.pro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29CBE9-2576-4208-B5CE-8A821FB5B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191500" cy="8572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111"/>
                </a:solidFill>
              </a:defRPr>
            </a:pPr>
            <a:r>
              <a:rPr sz="3300" b="1">
                <a:solidFill>
                  <a:srgbClr val="111111"/>
                </a:solidFill>
              </a:rPr>
              <a:t>BUSINESS MODEL (DRAFT)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F41DE6-E0CE-43CA-80F7-0F87E77D9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6667500" cy="42862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11111"/>
                </a:solidFill>
              </a:defRPr>
            </a:pPr>
            <a:r>
              <a:rPr sz="1800">
                <a:solidFill>
                  <a:srgbClr val="111111"/>
                </a:solidFill>
              </a:rPr>
              <a:t>Freemium:</a:t>
            </a:r>
          </a:p>
          <a:p xmlns:a="http://schemas.openxmlformats.org/drawingml/2006/main">
            <a:pPr algn="l">
              <a:defRPr sz="1800">
                <a:solidFill>
                  <a:srgbClr val="111111"/>
                </a:solidFill>
              </a:defRPr>
            </a:pPr>
            <a:r>
              <a:rPr sz="1800">
                <a:solidFill>
                  <a:srgbClr val="111111"/>
                </a:solidFill>
              </a:rPr>
              <a:t>Free: trip workspaces, voting, comments, itinerary basics</a:t>
            </a:r>
          </a:p>
          <a:p xmlns:a="http://schemas.openxmlformats.org/drawingml/2006/main">
            <a:pPr algn="l">
              <a:defRPr sz="1800">
                <a:solidFill>
                  <a:srgbClr val="111111"/>
                </a:solidFill>
              </a:defRPr>
            </a:pPr>
            <a:r>
              <a:rPr sz="1800">
                <a:solidFill>
                  <a:srgbClr val="111111"/>
                </a:solidFill>
              </a:rPr>
              <a:t>Pro: premium templates, itinerary optimization, budget automation, export/share features</a:t>
            </a:r>
          </a:p>
          <a:p xmlns:a="http://schemas.openxmlformats.org/drawingml/2006/main">
            <a:pPr algn="l">
              <a:defRPr sz="1800">
                <a:solidFill>
                  <a:srgbClr val="111111"/>
                </a:solidFill>
              </a:defRPr>
            </a:pPr>
            <a:r>
              <a:rPr sz="1800">
                <a:solidFill>
                  <a:srgbClr val="111111"/>
                </a:solidFill>
              </a:rPr>
              <a:t>Longer-term: affiliate/booking revenue (lodging + activities) once usage is proven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98B732-33D1-47D5-8F54-BCC29F99A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657350"/>
            <a:ext cx="3429000" cy="3429000"/>
          </a:xfrm>
          <a:prstGeom xmlns:a="http://schemas.openxmlformats.org/drawingml/2006/main" prst="roundRect">
            <a:avLst>
              <a:gd name="adj" fmla="val 18000"/>
            </a:avLst>
          </a:prstGeom>
          <a:ln xmlns:a="http://schemas.openxmlformats.org/drawingml/2006/main" w="9525">
            <a:solidFill>
              <a:srgbClr val="E5E7EB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6B7280"/>
                </a:solidFill>
              </a:defRPr>
            </a:pPr>
            <a:r>
              <a:rPr sz="1350">
                <a:solidFill>
                  <a:srgbClr val="6B7280"/>
                </a:solidFill>
              </a:rPr>
              <a:t>Visual / GIF</a:t>
            </a:r>
          </a:p>
          <a:p xmlns:a="http://schemas.openxmlformats.org/drawingml/2006/main">
            <a:pPr algn="ctr">
              <a:defRPr sz="1350">
                <a:solidFill>
                  <a:srgbClr val="6B7280"/>
                </a:solidFill>
              </a:defRPr>
            </a:pPr>
            <a:r>
              <a:rPr sz="1350">
                <a:solidFill>
                  <a:srgbClr val="6B7280"/>
                </a:solidFill>
              </a:rPr>
              <a:t>(placeholder)</a:t>
            </a:r>
          </a:p>
        </p:txBody>
      </p:sp>
    </p:spTree>
    <p:extLst>
      <p:ext uri="{BB962C8B-B14F-4D97-AF65-F5344CB8AC3E}">
        <p14:creationId xmlns:p14="http://schemas.microsoft.com/office/powerpoint/2010/main" val="84278796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9CF2DAB-F761-4912-9E69-4BC2A710568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DD149F-F87D-44F0-95B7-A2A99DD80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10820400" cy="190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41421F-5DE6-47B5-B12C-61ADC8030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10820400" cy="9525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BBEA3E-C4AC-40BD-857E-B4841D085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2286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6B7280"/>
                </a:solidFill>
              </a:defRPr>
            </a:pPr>
            <a:r>
              <a:rPr sz="1050">
                <a:solidFill>
                  <a:srgbClr val="6B7280"/>
                </a:solidFill>
              </a:rPr>
              <a:t>17 / 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98D295-27C0-456E-88D3-18DA9BA30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2286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6B7280"/>
                </a:solidFill>
              </a:defRPr>
            </a:pPr>
            <a:r>
              <a:rPr sz="1050">
                <a:solidFill>
                  <a:srgbClr val="6B7280"/>
                </a:solidFill>
              </a:rPr>
              <a:t>tripable.pro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C39C85-874E-4BF1-90F2-EE653779E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191500" cy="8572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111"/>
                </a:solidFill>
              </a:defRPr>
            </a:pPr>
            <a:r>
              <a:rPr sz="3300" b="1">
                <a:solidFill>
                  <a:srgbClr val="111111"/>
                </a:solidFill>
              </a:rPr>
              <a:t>MARKET SIZE (BOTTOM-UP, DRAFT)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75E5FF-1A6D-49E5-974E-831CD2C84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6667500" cy="42862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11111"/>
                </a:solidFill>
              </a:defRPr>
            </a:pPr>
            <a:r>
              <a:rPr sz="1800">
                <a:solidFill>
                  <a:srgbClr val="111111"/>
                </a:solidFill>
              </a:rPr>
              <a:t>Wedge (initial):</a:t>
            </a:r>
          </a:p>
          <a:p xmlns:a="http://schemas.openxmlformats.org/drawingml/2006/main">
            <a:pPr algn="l">
              <a:defRPr sz="1800">
                <a:solidFill>
                  <a:srgbClr val="111111"/>
                </a:solidFill>
              </a:defRPr>
            </a:pPr>
            <a:r>
              <a:rPr sz="1800">
                <a:solidFill>
                  <a:srgbClr val="111111"/>
                </a:solidFill>
              </a:rPr>
              <a:t>University communities in NYC (clubs, cohorts, friend groups)</a:t>
            </a:r>
          </a:p>
          <a:p xmlns:a="http://schemas.openxmlformats.org/drawingml/2006/main">
            <a:pPr algn="l">
              <a:defRPr sz="1800">
                <a:solidFill>
                  <a:srgbClr val="111111"/>
                </a:solidFill>
              </a:defRPr>
            </a:pPr>
            <a:r>
              <a:rPr sz="1800">
                <a:solidFill>
                  <a:srgbClr val="111111"/>
                </a:solidFill>
              </a:rPr>
              <a:t>Expansion:</a:t>
            </a:r>
          </a:p>
          <a:p xmlns:a="http://schemas.openxmlformats.org/drawingml/2006/main">
            <a:pPr algn="l">
              <a:defRPr sz="1800">
                <a:solidFill>
                  <a:srgbClr val="111111"/>
                </a:solidFill>
              </a:defRPr>
            </a:pPr>
            <a:r>
              <a:rPr sz="1800">
                <a:solidFill>
                  <a:srgbClr val="111111"/>
                </a:solidFill>
              </a:rPr>
              <a:t>18–30 group travel nationally</a:t>
            </a:r>
          </a:p>
          <a:p xmlns:a="http://schemas.openxmlformats.org/drawingml/2006/main">
            <a:pPr algn="l">
              <a:defRPr sz="1800">
                <a:solidFill>
                  <a:srgbClr val="111111"/>
                </a:solidFill>
              </a:defRPr>
            </a:pPr>
            <a:r>
              <a:rPr sz="1800">
                <a:solidFill>
                  <a:srgbClr val="111111"/>
                </a:solidFill>
              </a:rPr>
              <a:t>Bottom-up placeholder framework:</a:t>
            </a:r>
          </a:p>
          <a:p xmlns:a="http://schemas.openxmlformats.org/drawingml/2006/main">
            <a:pPr algn="l">
              <a:defRPr sz="1800">
                <a:solidFill>
                  <a:srgbClr val="111111"/>
                </a:solidFill>
              </a:defRPr>
            </a:pPr>
            <a:r>
              <a:rPr sz="1800">
                <a:solidFill>
                  <a:srgbClr val="111111"/>
                </a:solidFill>
              </a:rPr>
              <a:t>(# of active groups) × (trips per group per year) × (paid conversion) × (ARPU)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4299A2-A6A9-4FE9-A31A-4650795C6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657350"/>
            <a:ext cx="3429000" cy="3429000"/>
          </a:xfrm>
          <a:prstGeom xmlns:a="http://schemas.openxmlformats.org/drawingml/2006/main" prst="roundRect">
            <a:avLst>
              <a:gd name="adj" fmla="val 18000"/>
            </a:avLst>
          </a:prstGeom>
          <a:ln xmlns:a="http://schemas.openxmlformats.org/drawingml/2006/main" w="9525">
            <a:solidFill>
              <a:srgbClr val="E5E7EB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6B7280"/>
                </a:solidFill>
              </a:defRPr>
            </a:pPr>
            <a:r>
              <a:rPr sz="1350">
                <a:solidFill>
                  <a:srgbClr val="6B7280"/>
                </a:solidFill>
              </a:rPr>
              <a:t>Visual / GIF</a:t>
            </a:r>
          </a:p>
          <a:p xmlns:a="http://schemas.openxmlformats.org/drawingml/2006/main">
            <a:pPr algn="ctr">
              <a:defRPr sz="1350">
                <a:solidFill>
                  <a:srgbClr val="6B7280"/>
                </a:solidFill>
              </a:defRPr>
            </a:pPr>
            <a:r>
              <a:rPr sz="1350">
                <a:solidFill>
                  <a:srgbClr val="6B7280"/>
                </a:solidFill>
              </a:rPr>
              <a:t>(placeholder)</a:t>
            </a:r>
          </a:p>
        </p:txBody>
      </p:sp>
    </p:spTree>
    <p:extLst>
      <p:ext uri="{BB962C8B-B14F-4D97-AF65-F5344CB8AC3E}">
        <p14:creationId xmlns:p14="http://schemas.microsoft.com/office/powerpoint/2010/main" val="120754807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9CF2DAB-F761-4912-9E69-4BC2A710568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D50892-8D4E-4BC8-BCC2-FBF2EA05D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10820400" cy="190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6B7F5F-5399-4B3B-AA6E-C84074829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10820400" cy="9525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CD0E94-B3D7-4C3B-A2E9-31601CE79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2286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6B7280"/>
                </a:solidFill>
              </a:defRPr>
            </a:pPr>
            <a:r>
              <a:rPr sz="1050">
                <a:solidFill>
                  <a:srgbClr val="6B7280"/>
                </a:solidFill>
              </a:rPr>
              <a:t>18 / 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96E74E-9A80-4E6F-8976-47B12FDA7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2286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6B7280"/>
                </a:solidFill>
              </a:defRPr>
            </a:pPr>
            <a:r>
              <a:rPr sz="1050">
                <a:solidFill>
                  <a:srgbClr val="6B7280"/>
                </a:solidFill>
              </a:rPr>
              <a:t>tripable.pro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0D2FAE-C3E6-4C0E-9A18-132EF77C3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191500" cy="8572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111"/>
                </a:solidFill>
              </a:defRPr>
            </a:pPr>
            <a:r>
              <a:rPr sz="3300" b="1">
                <a:solidFill>
                  <a:srgbClr val="111111"/>
                </a:solidFill>
              </a:rPr>
              <a:t>GO-TO-MARKET (NEAR TERM)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16D15C-FACB-42F4-9FE7-3DAAA1A72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42862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11111"/>
                </a:solidFill>
              </a:defRPr>
            </a:pPr>
            <a:r>
              <a:rPr sz="1800">
                <a:solidFill>
                  <a:srgbClr val="111111"/>
                </a:solidFill>
              </a:rPr>
              <a:t>Channels already planned in-repo:</a:t>
            </a:r>
          </a:p>
          <a:p xmlns:a="http://schemas.openxmlformats.org/drawingml/2006/main">
            <a:pPr algn="l">
              <a:defRPr sz="1800">
                <a:solidFill>
                  <a:srgbClr val="111111"/>
                </a:solidFill>
              </a:defRPr>
            </a:pPr>
            <a:r>
              <a:rPr sz="1800">
                <a:solidFill>
                  <a:srgbClr val="111111"/>
                </a:solidFill>
              </a:rPr>
              <a:t>Reddit: travel + student communities (feedback-first posts)</a:t>
            </a:r>
          </a:p>
          <a:p xmlns:a="http://schemas.openxmlformats.org/drawingml/2006/main">
            <a:pPr algn="l">
              <a:defRPr sz="1800">
                <a:solidFill>
                  <a:srgbClr val="111111"/>
                </a:solidFill>
              </a:defRPr>
            </a:pPr>
            <a:r>
              <a:rPr sz="1800">
                <a:solidFill>
                  <a:srgbClr val="111111"/>
                </a:solidFill>
              </a:rPr>
              <a:t>Discord: student groups + travel servers</a:t>
            </a:r>
          </a:p>
          <a:p xmlns:a="http://schemas.openxmlformats.org/drawingml/2006/main">
            <a:pPr algn="l">
              <a:defRPr sz="1800">
                <a:solidFill>
                  <a:srgbClr val="111111"/>
                </a:solidFill>
              </a:defRPr>
            </a:pPr>
            <a:r>
              <a:rPr sz="1800">
                <a:solidFill>
                  <a:srgbClr val="111111"/>
                </a:solidFill>
              </a:rPr>
              <a:t>On-campus: 10–20 in-person conversations to recruit groups</a:t>
            </a:r>
          </a:p>
          <a:p xmlns:a="http://schemas.openxmlformats.org/drawingml/2006/main">
            <a:pPr algn="l">
              <a:defRPr sz="1800">
                <a:solidFill>
                  <a:srgbClr val="111111"/>
                </a:solidFill>
              </a:defRPr>
            </a:pPr>
            <a:r>
              <a:rPr sz="1800">
                <a:solidFill>
                  <a:srgbClr val="111111"/>
                </a:solidFill>
              </a:rPr>
              <a:t>Offer: early access + influence roadmap</a:t>
            </a:r>
          </a:p>
        </p:txBody>
      </p:sp>
    </p:spTree>
    <p:extLst>
      <p:ext uri="{BB962C8B-B14F-4D97-AF65-F5344CB8AC3E}">
        <p14:creationId xmlns:p14="http://schemas.microsoft.com/office/powerpoint/2010/main" val="35051795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9CF2DAB-F761-4912-9E69-4BC2A710568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BD24E4-E1A2-4E47-A277-A88DC177E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10820400" cy="190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817595-A6AC-4428-B3DD-F44F6EEF6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10820400" cy="9525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37AA23-A773-4B72-A900-EDFAC74A4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2286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6B7280"/>
                </a:solidFill>
              </a:defRPr>
            </a:pPr>
            <a:r>
              <a:rPr sz="1050">
                <a:solidFill>
                  <a:srgbClr val="6B7280"/>
                </a:solidFill>
              </a:rPr>
              <a:t>19 / 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289C77-AC63-4DD7-9A98-4A536E575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2286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6B7280"/>
                </a:solidFill>
              </a:defRPr>
            </a:pPr>
            <a:r>
              <a:rPr sz="1050">
                <a:solidFill>
                  <a:srgbClr val="6B7280"/>
                </a:solidFill>
              </a:rPr>
              <a:t>tripable.pro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FEAE20-599B-4CD5-A1C6-8B97028F5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191500" cy="8572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111"/>
                </a:solidFill>
              </a:defRPr>
            </a:pPr>
            <a:r>
              <a:rPr sz="3300" b="1">
                <a:solidFill>
                  <a:srgbClr val="111111"/>
                </a:solidFill>
              </a:rPr>
              <a:t>TEAM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2654AF-C0FB-4943-B203-1D6E4E86F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42862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11111"/>
                </a:solidFill>
              </a:defRPr>
            </a:pPr>
            <a:r>
              <a:rPr sz="1800">
                <a:solidFill>
                  <a:srgbClr val="111111"/>
                </a:solidFill>
              </a:rPr>
              <a:t>Elizabeth Lu — demand gen + landing page + frontend</a:t>
            </a:r>
          </a:p>
          <a:p xmlns:a="http://schemas.openxmlformats.org/drawingml/2006/main">
            <a:pPr algn="l">
              <a:defRPr sz="1800">
                <a:solidFill>
                  <a:srgbClr val="111111"/>
                </a:solidFill>
              </a:defRPr>
            </a:pPr>
            <a:r>
              <a:rPr sz="1800">
                <a:solidFill>
                  <a:srgbClr val="111111"/>
                </a:solidFill>
              </a:rPr>
              <a:t>Luke Liang — supabase + deployment</a:t>
            </a:r>
          </a:p>
          <a:p xmlns:a="http://schemas.openxmlformats.org/drawingml/2006/main">
            <a:pPr algn="l">
              <a:defRPr sz="1800">
                <a:solidFill>
                  <a:srgbClr val="111111"/>
                </a:solidFill>
              </a:defRPr>
            </a:pPr>
            <a:r>
              <a:rPr sz="1800">
                <a:solidFill>
                  <a:srgbClr val="111111"/>
                </a:solidFill>
              </a:rPr>
              <a:t>Rebecca Zhao — frontend</a:t>
            </a:r>
          </a:p>
          <a:p xmlns:a="http://schemas.openxmlformats.org/drawingml/2006/main">
            <a:pPr algn="l">
              <a:defRPr sz="1800">
                <a:solidFill>
                  <a:srgbClr val="111111"/>
                </a:solidFill>
              </a:defRPr>
            </a:pPr>
            <a:r>
              <a:rPr sz="1800">
                <a:solidFill>
                  <a:srgbClr val="111111"/>
                </a:solidFill>
              </a:rPr>
              <a:t>Thai On — frontend/backend integration</a:t>
            </a:r>
          </a:p>
        </p:txBody>
      </p:sp>
    </p:spTree>
    <p:extLst>
      <p:ext uri="{BB962C8B-B14F-4D97-AF65-F5344CB8AC3E}">
        <p14:creationId xmlns:p14="http://schemas.microsoft.com/office/powerpoint/2010/main" val="58580093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9CF2DAB-F761-4912-9E69-4BC2A710568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41BF74-BCBA-4688-A900-4BE25097D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10820400" cy="190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C98FCC-1385-4782-AAF5-C55FCD19B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10820400" cy="9525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38FD16-3D86-410C-B750-4B2E45966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2286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6B7280"/>
                </a:solidFill>
              </a:defRPr>
            </a:pPr>
            <a:r>
              <a:rPr sz="1050">
                <a:solidFill>
                  <a:srgbClr val="6B7280"/>
                </a:solidFill>
              </a:rPr>
              <a:t>20 / 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C90548-4A7F-438D-B94B-09ECFB633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2286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6B7280"/>
                </a:solidFill>
              </a:defRPr>
            </a:pPr>
            <a:r>
              <a:rPr sz="1050">
                <a:solidFill>
                  <a:srgbClr val="6B7280"/>
                </a:solidFill>
              </a:rPr>
              <a:t>tripable.pro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C2BCCD-8198-4A45-AE58-2A3FEFDE7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191500" cy="8572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111"/>
                </a:solidFill>
              </a:defRPr>
            </a:pPr>
            <a:r>
              <a:rPr sz="3300" b="1">
                <a:solidFill>
                  <a:srgbClr val="111111"/>
                </a:solidFill>
              </a:rPr>
              <a:t>THE ASK (FOR THIS DRAFT)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BF47F5-987D-43F4-8C70-E6D8C5E49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42862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11111"/>
                </a:solidFill>
              </a:defRPr>
            </a:pPr>
            <a:r>
              <a:rPr sz="1800">
                <a:solidFill>
                  <a:srgbClr val="111111"/>
                </a:solidFill>
              </a:rPr>
              <a:t>We’re asking for:</a:t>
            </a:r>
          </a:p>
          <a:p xmlns:a="http://schemas.openxmlformats.org/drawingml/2006/main">
            <a:pPr algn="l">
              <a:defRPr sz="1800">
                <a:solidFill>
                  <a:srgbClr val="111111"/>
                </a:solidFill>
              </a:defRPr>
            </a:pPr>
            <a:r>
              <a:rPr sz="1800">
                <a:solidFill>
                  <a:srgbClr val="111111"/>
                </a:solidFill>
              </a:rPr>
              <a:t>20 real groups to plan a trip end-to-end</a:t>
            </a:r>
          </a:p>
          <a:p xmlns:a="http://schemas.openxmlformats.org/drawingml/2006/main">
            <a:pPr algn="l">
              <a:defRPr sz="1800">
                <a:solidFill>
                  <a:srgbClr val="111111"/>
                </a:solidFill>
              </a:defRPr>
            </a:pPr>
            <a:r>
              <a:rPr sz="1800">
                <a:solidFill>
                  <a:srgbClr val="111111"/>
                </a:solidFill>
              </a:rPr>
              <a:t>Feedback on the “workspace tabs” UX (what’s missing / confusing)</a:t>
            </a:r>
          </a:p>
          <a:p xmlns:a="http://schemas.openxmlformats.org/drawingml/2006/main">
            <a:pPr algn="l">
              <a:defRPr sz="1800">
                <a:solidFill>
                  <a:srgbClr val="111111"/>
                </a:solidFill>
              </a:defRPr>
            </a:pPr>
            <a:r>
              <a:rPr sz="1800">
                <a:solidFill>
                  <a:srgbClr val="111111"/>
                </a:solidFill>
              </a:rPr>
              <a:t>Intros to student orgs / group-travel communities</a:t>
            </a:r>
          </a:p>
          <a:p xmlns:a="http://schemas.openxmlformats.org/drawingml/2006/main">
            <a:pPr algn="l">
              <a:defRPr sz="1800">
                <a:solidFill>
                  <a:srgbClr val="111111"/>
                </a:solidFill>
              </a:defRPr>
            </a:pPr>
            <a:r>
              <a:rPr sz="1800">
                <a:solidFill>
                  <a:srgbClr val="111111"/>
                </a:solidFill>
              </a:rPr>
              <a:t>Optional: mentors with marketplace/community growth + consumer collaboration experience</a:t>
            </a:r>
          </a:p>
        </p:txBody>
      </p:sp>
    </p:spTree>
    <p:extLst>
      <p:ext uri="{BB962C8B-B14F-4D97-AF65-F5344CB8AC3E}">
        <p14:creationId xmlns:p14="http://schemas.microsoft.com/office/powerpoint/2010/main" val="1350379212"/>
      </p:ext>
    </p:extLst>
  </p:cSld>
</p:sld>
</file>

<file path=ppt/theme/theme1.xml><?xml version="1.0" encoding="utf-8"?>
<a:theme xmlns:a="http://schemas.openxmlformats.org/drawingml/2006/main" name="TripableMinimal">
  <a:themeElements>
    <a:clrScheme name="TripableMinimal">
      <a:accent1>
        <a:srgbClr val="111111"/>
      </a:accent1>
      <a:accent2>
        <a:srgbClr val="6B7280"/>
      </a:accent2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TripableMinimal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2026-04-28T01:10:27.7830000Z</dcterms:created>
  <dcterms:modified xsi:type="dcterms:W3CDTF">2026-04-28T01:10:27.7830000Z</dcterms:modified>
</coreProperties>
</file>